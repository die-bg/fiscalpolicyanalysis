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7" d="100"/>
          <a:sy n="137" d="100"/>
        </p:scale>
        <p:origin x="248" y="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Pronósticos según propuestas de factores de contracción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2CC22A7-02A2-4504-A715-7D817A47DE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Introducción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</a:t>
            </a:r>
            <a:r>
              <a:rPr dirty="0" err="1"/>
              <a:t>continuación</a:t>
            </a:r>
            <a:r>
              <a:rPr dirty="0"/>
              <a:t> se </a:t>
            </a:r>
            <a:r>
              <a:rPr dirty="0" err="1"/>
              <a:t>muestran</a:t>
            </a:r>
            <a:r>
              <a:rPr dirty="0"/>
              <a:t> los </a:t>
            </a:r>
            <a:r>
              <a:rPr dirty="0" err="1"/>
              <a:t>pronósticos</a:t>
            </a:r>
            <a:r>
              <a:rPr dirty="0"/>
              <a:t> de las 17 </a:t>
            </a:r>
            <a:r>
              <a:rPr i="1" dirty="0"/>
              <a:t>variables ola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residuo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586" y="158355"/>
            <a:ext cx="5959845" cy="47755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2400" dirty="0" err="1"/>
              <a:t>Propuesta</a:t>
            </a:r>
            <a:r>
              <a:rPr sz="2400" dirty="0"/>
              <a:t> 1 factor de </a:t>
            </a:r>
            <a:r>
              <a:rPr sz="2400" dirty="0" err="1"/>
              <a:t>contracción</a:t>
            </a:r>
            <a:endParaRPr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859" y="663759"/>
            <a:ext cx="8495397" cy="524504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sz="1400" dirty="0"/>
              <a:t>Se </a:t>
            </a:r>
            <a:r>
              <a:rPr sz="1400" dirty="0" err="1"/>
              <a:t>aplica</a:t>
            </a:r>
            <a:r>
              <a:rPr sz="1400" dirty="0"/>
              <a:t> un factor de </a:t>
            </a:r>
            <a:r>
              <a:rPr sz="1400" dirty="0" err="1"/>
              <a:t>contracción</a:t>
            </a:r>
            <a:r>
              <a:rPr sz="1400" dirty="0"/>
              <a:t> a la </a:t>
            </a:r>
            <a:r>
              <a:rPr sz="1400" dirty="0" err="1"/>
              <a:t>matriz</a:t>
            </a:r>
            <a:r>
              <a:rPr sz="1400" dirty="0"/>
              <a:t> de </a:t>
            </a:r>
            <a:r>
              <a:rPr sz="1400" dirty="0" err="1"/>
              <a:t>coeficientes</a:t>
            </a:r>
            <a:r>
              <a:rPr sz="1400" dirty="0"/>
              <a:t> de forma </a:t>
            </a:r>
            <a:r>
              <a:rPr sz="1400" dirty="0" err="1"/>
              <a:t>iterativa</a:t>
            </a:r>
            <a:r>
              <a:rPr sz="1400" dirty="0"/>
              <a:t> hasta que los eigen </a:t>
            </a:r>
            <a:r>
              <a:rPr sz="1400" dirty="0" err="1"/>
              <a:t>valores</a:t>
            </a:r>
            <a:r>
              <a:rPr sz="1400" dirty="0"/>
              <a:t> de </a:t>
            </a:r>
            <a:r>
              <a:rPr sz="1400" dirty="0" err="1"/>
              <a:t>dicha</a:t>
            </a:r>
            <a:r>
              <a:rPr sz="1400" dirty="0"/>
              <a:t> </a:t>
            </a:r>
            <a:r>
              <a:rPr sz="1400" dirty="0" err="1"/>
              <a:t>matriz</a:t>
            </a:r>
            <a:r>
              <a:rPr sz="1400" dirty="0"/>
              <a:t> </a:t>
            </a:r>
            <a:r>
              <a:rPr sz="1400" dirty="0" err="1"/>
              <a:t>sean</a:t>
            </a:r>
            <a:r>
              <a:rPr sz="1400" dirty="0"/>
              <a:t> </a:t>
            </a:r>
            <a:r>
              <a:rPr sz="1400" dirty="0" err="1"/>
              <a:t>menores</a:t>
            </a:r>
            <a:r>
              <a:rPr sz="1400" dirty="0"/>
              <a:t> a uno.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982233"/>
              </p:ext>
            </p:extLst>
          </p:nvPr>
        </p:nvGraphicFramePr>
        <p:xfrm>
          <a:off x="1986808" y="1530709"/>
          <a:ext cx="5105400" cy="249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Algoritmo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Descripción del algoritmo:</a:t>
                      </a:r>
                      <a:r>
                        <a:t> Multiplicación iterativa de un factor de contracción.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iteración 1:</a:t>
                      </a:r>
                      <a:r>
                        <a:t> (A = 0.99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iteración 2:</a:t>
                      </a:r>
                      <a:r>
                        <a:t> (A = 0.99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s-ES" dirty="0"/>
                        <a:t>…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 dirty="0" err="1"/>
                        <a:t>iteración</a:t>
                      </a:r>
                      <a:r>
                        <a:rPr i="1" dirty="0"/>
                        <a:t> n:</a:t>
                      </a:r>
                      <a:r>
                        <a:rPr dirty="0"/>
                        <a:t> (A = 0.99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 dirty="0"/>
                        <a:t>Nota:</a:t>
                      </a:r>
                      <a:r>
                        <a:rPr dirty="0"/>
                        <a:t> El </a:t>
                      </a:r>
                      <a:r>
                        <a:rPr dirty="0" err="1"/>
                        <a:t>proceso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finaliza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cuando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todos</a:t>
                      </a:r>
                      <a:r>
                        <a:rPr dirty="0"/>
                        <a:t> los </a:t>
                      </a:r>
                      <a:r>
                        <a:rPr dirty="0" err="1"/>
                        <a:t>eigenvalores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están</a:t>
                      </a:r>
                      <a:r>
                        <a:rPr dirty="0"/>
                        <a:t> dentro del </a:t>
                      </a:r>
                      <a:r>
                        <a:rPr dirty="0" err="1"/>
                        <a:t>círculo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unitario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Producto Externo</a:t>
            </a:r>
          </a:p>
        </p:txBody>
      </p:sp>
      <p:pic>
        <p:nvPicPr>
          <p:cNvPr id="3" name="Picture 1" descr="plots_proposal_1/1GDP_st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Tasa de interés externa</a:t>
            </a:r>
          </a:p>
        </p:txBody>
      </p:sp>
      <p:pic>
        <p:nvPicPr>
          <p:cNvPr id="3" name="Picture 1" descr="plots_proposal_1/2i_st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Inflación externa</a:t>
            </a:r>
          </a:p>
        </p:txBody>
      </p:sp>
      <p:pic>
        <p:nvPicPr>
          <p:cNvPr id="3" name="Picture 1" descr="plots_proposal_1/3pi_st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Inversión pública</a:t>
            </a:r>
          </a:p>
        </p:txBody>
      </p:sp>
      <p:pic>
        <p:nvPicPr>
          <p:cNvPr id="3" name="Picture 1" descr="plots_proposal_1/4IPub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Ingresos totales</a:t>
            </a:r>
          </a:p>
        </p:txBody>
      </p:sp>
      <p:pic>
        <p:nvPicPr>
          <p:cNvPr id="3" name="Picture 1" descr="plots_proposal_1/5Ing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Gasto de funcionamiento</a:t>
            </a:r>
          </a:p>
        </p:txBody>
      </p:sp>
      <p:pic>
        <p:nvPicPr>
          <p:cNvPr id="3" name="Picture 1" descr="plots_proposal_1/6GFu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Deuda pública externa</a:t>
            </a:r>
          </a:p>
        </p:txBody>
      </p:sp>
      <p:pic>
        <p:nvPicPr>
          <p:cNvPr id="3" name="Picture 1" descr="plots_proposal_1/7DP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Remesas</a:t>
            </a:r>
          </a:p>
        </p:txBody>
      </p:sp>
      <p:pic>
        <p:nvPicPr>
          <p:cNvPr id="3" name="Picture 1" descr="plots_proposal_1/8Re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Deuda pública interna</a:t>
            </a:r>
          </a:p>
        </p:txBody>
      </p:sp>
      <p:pic>
        <p:nvPicPr>
          <p:cNvPr id="3" name="Picture 1" descr="plots_proposal_1/9DP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Activos externos netos</a:t>
            </a:r>
          </a:p>
        </p:txBody>
      </p:sp>
      <p:pic>
        <p:nvPicPr>
          <p:cNvPr id="3" name="Picture 1" descr="plots_proposal_1/10AE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Activos internos netos</a:t>
            </a:r>
          </a:p>
        </p:txBody>
      </p:sp>
      <p:pic>
        <p:nvPicPr>
          <p:cNvPr id="3" name="Picture 1" descr="plots_proposal_1/11AI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Tasa de interés de política monetaria</a:t>
            </a:r>
          </a:p>
        </p:txBody>
      </p:sp>
      <p:pic>
        <p:nvPicPr>
          <p:cNvPr id="3" name="Picture 1" descr="plots_proposal_1/12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Depreciación cambiaria</a:t>
            </a:r>
          </a:p>
        </p:txBody>
      </p:sp>
      <p:pic>
        <p:nvPicPr>
          <p:cNvPr id="3" name="Picture 1" descr="plots_proposal_1/13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 por riesgo país</a:t>
            </a:r>
          </a:p>
        </p:txBody>
      </p:sp>
      <p:pic>
        <p:nvPicPr>
          <p:cNvPr id="3" name="Picture 1" descr="plots_proposal_1/14PRE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Inflación doméstica</a:t>
            </a:r>
          </a:p>
        </p:txBody>
      </p:sp>
      <p:pic>
        <p:nvPicPr>
          <p:cNvPr id="3" name="Picture 1" descr="plots_proposal_1/15p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Producto doméstico</a:t>
            </a:r>
          </a:p>
        </p:txBody>
      </p:sp>
      <p:pic>
        <p:nvPicPr>
          <p:cNvPr id="3" name="Picture 1" descr="plots_proposal_1/16GD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Inversión Privada</a:t>
            </a:r>
          </a:p>
        </p:txBody>
      </p:sp>
      <p:pic>
        <p:nvPicPr>
          <p:cNvPr id="3" name="Picture 1" descr="plots_proposal_1/17IPriv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Resdiuo de deuda pública interna</a:t>
            </a:r>
          </a:p>
        </p:txBody>
      </p:sp>
      <p:pic>
        <p:nvPicPr>
          <p:cNvPr id="3" name="Picture 1" descr="plots_proposal_1/18u_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501" y="128731"/>
            <a:ext cx="6054998" cy="53787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2400" dirty="0" err="1"/>
              <a:t>Propuesta</a:t>
            </a:r>
            <a:r>
              <a:rPr sz="2400" dirty="0"/>
              <a:t> 2 factor de </a:t>
            </a:r>
            <a:r>
              <a:rPr sz="2400" dirty="0" err="1"/>
              <a:t>contracción</a:t>
            </a:r>
            <a:endParaRPr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781" y="728205"/>
            <a:ext cx="8554513" cy="682850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sz="1400" dirty="0"/>
              <a:t>Al </a:t>
            </a:r>
            <a:r>
              <a:rPr sz="1400" dirty="0" err="1"/>
              <a:t>igual</a:t>
            </a:r>
            <a:r>
              <a:rPr sz="1400" dirty="0"/>
              <a:t> que la </a:t>
            </a:r>
            <a:r>
              <a:rPr sz="1400" i="1" dirty="0" err="1"/>
              <a:t>propuesta</a:t>
            </a:r>
            <a:r>
              <a:rPr sz="1400" i="1" dirty="0"/>
              <a:t> 1</a:t>
            </a:r>
            <a:r>
              <a:rPr sz="1400" dirty="0"/>
              <a:t> se </a:t>
            </a:r>
            <a:r>
              <a:rPr sz="1400" dirty="0" err="1"/>
              <a:t>aplica</a:t>
            </a:r>
            <a:r>
              <a:rPr sz="1400" dirty="0"/>
              <a:t> un factor de </a:t>
            </a:r>
            <a:r>
              <a:rPr sz="1400" dirty="0" err="1"/>
              <a:t>contracción</a:t>
            </a:r>
            <a:r>
              <a:rPr lang="es-ES" sz="1400" dirty="0"/>
              <a:t> a la matriz de coeficientes</a:t>
            </a:r>
            <a:r>
              <a:rPr sz="1400" dirty="0"/>
              <a:t>, </a:t>
            </a:r>
            <a:r>
              <a:rPr sz="1400" dirty="0" err="1"/>
              <a:t>pero</a:t>
            </a:r>
            <a:r>
              <a:rPr sz="1400" dirty="0"/>
              <a:t> </a:t>
            </a:r>
            <a:r>
              <a:rPr sz="1400" dirty="0" err="1"/>
              <a:t>este</a:t>
            </a:r>
            <a:r>
              <a:rPr sz="1400" dirty="0"/>
              <a:t> factor de</a:t>
            </a:r>
            <a:r>
              <a:rPr lang="es-ES" sz="1400" dirty="0"/>
              <a:t>c</a:t>
            </a:r>
            <a:r>
              <a:rPr sz="1400" dirty="0"/>
              <a:t>ae </a:t>
            </a:r>
            <a:r>
              <a:rPr sz="1400" dirty="0" err="1"/>
              <a:t>exponencialmente</a:t>
            </a:r>
            <a:r>
              <a:rPr sz="1400" dirty="0"/>
              <a:t> </a:t>
            </a:r>
            <a:r>
              <a:rPr sz="1400" dirty="0" err="1"/>
              <a:t>iteración</a:t>
            </a:r>
            <a:r>
              <a:rPr sz="1400" dirty="0"/>
              <a:t> a </a:t>
            </a:r>
            <a:r>
              <a:rPr sz="1400" dirty="0" err="1"/>
              <a:t>iteración</a:t>
            </a:r>
            <a:r>
              <a:rPr sz="1400" dirty="0"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482815"/>
              </p:ext>
            </p:extLst>
          </p:nvPr>
        </p:nvGraphicFramePr>
        <p:xfrm>
          <a:off x="2250478" y="1516779"/>
          <a:ext cx="5105400" cy="249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Algoritmo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Descripción del algoritmo:</a:t>
                      </a:r>
                      <a:r>
                        <a:t> Multiplicación iterativa de un factor de contracción.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iteración 1:</a:t>
                      </a:r>
                      <a:r>
                        <a:t> (A = 0.99^1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iteración 2:</a:t>
                      </a:r>
                      <a:r>
                        <a:t> (A = 0.99^2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s-ES" dirty="0"/>
                        <a:t>…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iteración n:</a:t>
                      </a:r>
                      <a:r>
                        <a:t> (A = 0.99^n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 dirty="0"/>
                        <a:t>Nota:</a:t>
                      </a:r>
                      <a:r>
                        <a:rPr dirty="0"/>
                        <a:t> El </a:t>
                      </a:r>
                      <a:r>
                        <a:rPr dirty="0" err="1"/>
                        <a:t>proceso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finaliza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cuando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todos</a:t>
                      </a:r>
                      <a:r>
                        <a:rPr dirty="0"/>
                        <a:t> los </a:t>
                      </a:r>
                      <a:r>
                        <a:rPr dirty="0" err="1"/>
                        <a:t>eigenvalores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están</a:t>
                      </a:r>
                      <a:r>
                        <a:rPr dirty="0"/>
                        <a:t> dentro del </a:t>
                      </a:r>
                      <a:r>
                        <a:rPr dirty="0" err="1"/>
                        <a:t>círculo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unitario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251851-B59E-40F9-868D-964EAD3F28E2}"/>
              </a:ext>
            </a:extLst>
          </p:cNvPr>
          <p:cNvSpPr txBox="1">
            <a:spLocks/>
          </p:cNvSpPr>
          <p:nvPr/>
        </p:nvSpPr>
        <p:spPr>
          <a:xfrm>
            <a:off x="457200" y="4194910"/>
            <a:ext cx="8229600" cy="6828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s-ES" sz="1400" dirty="0"/>
              <a:t>La razón de aplicar el decaimiento exponencial se debe a que la </a:t>
            </a:r>
            <a:r>
              <a:rPr lang="es-ES" sz="1400" i="1" dirty="0"/>
              <a:t>propuesta 1</a:t>
            </a:r>
            <a:r>
              <a:rPr lang="es-ES" sz="1400" dirty="0"/>
              <a:t>, aunque se logra la estabilidad del sistema, sus multiplicadores dinámicos muestran una alta persistencia incluso en periodos tan largos como 30 años.</a:t>
            </a:r>
            <a:endParaRPr lang="es-ES" sz="14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Producto Externo</a:t>
            </a:r>
          </a:p>
        </p:txBody>
      </p:sp>
      <p:pic>
        <p:nvPicPr>
          <p:cNvPr id="3" name="Picture 1" descr="plots_proposal_2/1GDP_st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Tasa de interés externa</a:t>
            </a:r>
          </a:p>
        </p:txBody>
      </p:sp>
      <p:pic>
        <p:nvPicPr>
          <p:cNvPr id="3" name="Picture 1" descr="plots_proposal_2/2i_st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Inflación externa</a:t>
            </a:r>
          </a:p>
        </p:txBody>
      </p:sp>
      <p:pic>
        <p:nvPicPr>
          <p:cNvPr id="3" name="Picture 1" descr="plots_proposal_2/3pi_st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Inversión pública</a:t>
            </a:r>
          </a:p>
        </p:txBody>
      </p:sp>
      <p:pic>
        <p:nvPicPr>
          <p:cNvPr id="3" name="Picture 1" descr="plots_proposal_2/4IPub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Ingresos totales</a:t>
            </a:r>
          </a:p>
        </p:txBody>
      </p:sp>
      <p:pic>
        <p:nvPicPr>
          <p:cNvPr id="3" name="Picture 1" descr="plots_proposal_2/5Ing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Gasto de funcionamiento</a:t>
            </a:r>
          </a:p>
        </p:txBody>
      </p:sp>
      <p:pic>
        <p:nvPicPr>
          <p:cNvPr id="3" name="Picture 1" descr="plots_proposal_2/6GFu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Deuda pública externa</a:t>
            </a:r>
          </a:p>
        </p:txBody>
      </p:sp>
      <p:pic>
        <p:nvPicPr>
          <p:cNvPr id="3" name="Picture 1" descr="plots_proposal_2/7DP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Remesas</a:t>
            </a:r>
          </a:p>
        </p:txBody>
      </p:sp>
      <p:pic>
        <p:nvPicPr>
          <p:cNvPr id="3" name="Picture 1" descr="plots_proposal_2/8Re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Deuda pública interna</a:t>
            </a:r>
          </a:p>
        </p:txBody>
      </p:sp>
      <p:pic>
        <p:nvPicPr>
          <p:cNvPr id="3" name="Picture 1" descr="plots_proposal_2/9DP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Activos externos netos</a:t>
            </a:r>
          </a:p>
        </p:txBody>
      </p:sp>
      <p:pic>
        <p:nvPicPr>
          <p:cNvPr id="3" name="Picture 1" descr="plots_proposal_2/10AE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Activos internos netos</a:t>
            </a:r>
          </a:p>
        </p:txBody>
      </p:sp>
      <p:pic>
        <p:nvPicPr>
          <p:cNvPr id="3" name="Picture 1" descr="plots_proposal_2/11AI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Tasa de interés de política monetaria</a:t>
            </a:r>
          </a:p>
        </p:txBody>
      </p:sp>
      <p:pic>
        <p:nvPicPr>
          <p:cNvPr id="3" name="Picture 1" descr="plots_proposal_2/12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Depreciación cambiaria</a:t>
            </a:r>
          </a:p>
        </p:txBody>
      </p:sp>
      <p:pic>
        <p:nvPicPr>
          <p:cNvPr id="3" name="Picture 1" descr="plots_proposal_2/13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 por riesgo país</a:t>
            </a:r>
          </a:p>
        </p:txBody>
      </p:sp>
      <p:pic>
        <p:nvPicPr>
          <p:cNvPr id="3" name="Picture 1" descr="plots_proposal_2/14PRE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Inflación doméstica</a:t>
            </a:r>
          </a:p>
        </p:txBody>
      </p:sp>
      <p:pic>
        <p:nvPicPr>
          <p:cNvPr id="3" name="Picture 1" descr="plots_proposal_2/15p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Producto doméstico</a:t>
            </a:r>
          </a:p>
        </p:txBody>
      </p:sp>
      <p:pic>
        <p:nvPicPr>
          <p:cNvPr id="3" name="Picture 1" descr="plots_proposal_2/16GD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Inversión Privada</a:t>
            </a:r>
          </a:p>
        </p:txBody>
      </p:sp>
      <p:pic>
        <p:nvPicPr>
          <p:cNvPr id="3" name="Picture 1" descr="plots_proposal_2/17IPriv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Resdiuo de deuda pública interna</a:t>
            </a:r>
          </a:p>
        </p:txBody>
      </p:sp>
      <p:pic>
        <p:nvPicPr>
          <p:cNvPr id="3" name="Picture 1" descr="plots_proposal_2/18u_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348</Words>
  <Application>Microsoft Office PowerPoint</Application>
  <PresentationFormat>Presentación en pantalla (16:9)</PresentationFormat>
  <Paragraphs>58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Pronósticos según propuestas de factores de contracción</vt:lpstr>
      <vt:lpstr>Introducción</vt:lpstr>
      <vt:lpstr>Propuesta 1 factor de contracción</vt:lpstr>
      <vt:lpstr>Producto Externo</vt:lpstr>
      <vt:lpstr>Tasa de interés externa</vt:lpstr>
      <vt:lpstr>Inflación externa</vt:lpstr>
      <vt:lpstr>Inversión pública</vt:lpstr>
      <vt:lpstr>Ingresos totales</vt:lpstr>
      <vt:lpstr>Gasto de funcionamiento</vt:lpstr>
      <vt:lpstr>Deuda pública externa</vt:lpstr>
      <vt:lpstr>Remesas</vt:lpstr>
      <vt:lpstr>Deuda pública interna</vt:lpstr>
      <vt:lpstr>Activos externos netos</vt:lpstr>
      <vt:lpstr>Activos internos netos</vt:lpstr>
      <vt:lpstr>Tasa de interés de política monetaria</vt:lpstr>
      <vt:lpstr>Depreciación cambiaria</vt:lpstr>
      <vt:lpstr>Prima por riesgo país</vt:lpstr>
      <vt:lpstr>Inflación doméstica</vt:lpstr>
      <vt:lpstr>Producto doméstico</vt:lpstr>
      <vt:lpstr>Inversión Privada</vt:lpstr>
      <vt:lpstr>Resdiuo de deuda pública interna</vt:lpstr>
      <vt:lpstr>Propuesta 2 factor de contracción</vt:lpstr>
      <vt:lpstr>Producto Externo</vt:lpstr>
      <vt:lpstr>Tasa de interés externa</vt:lpstr>
      <vt:lpstr>Inflación externa</vt:lpstr>
      <vt:lpstr>Inversión pública</vt:lpstr>
      <vt:lpstr>Ingresos totales</vt:lpstr>
      <vt:lpstr>Gasto de funcionamiento</vt:lpstr>
      <vt:lpstr>Deuda pública externa</vt:lpstr>
      <vt:lpstr>Remesas</vt:lpstr>
      <vt:lpstr>Deuda pública interna</vt:lpstr>
      <vt:lpstr>Activos externos netos</vt:lpstr>
      <vt:lpstr>Activos internos netos</vt:lpstr>
      <vt:lpstr>Tasa de interés de política monetaria</vt:lpstr>
      <vt:lpstr>Depreciación cambiaria</vt:lpstr>
      <vt:lpstr>Prima por riesgo país</vt:lpstr>
      <vt:lpstr>Inflación doméstica</vt:lpstr>
      <vt:lpstr>Producto doméstico</vt:lpstr>
      <vt:lpstr>Inversión Privada</vt:lpstr>
      <vt:lpstr>Resdiuo de deuda pública interna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Pronósticos según propuestas de factores de contracción</dc:title>
  <dc:creator>Jorge Orenos</dc:creator>
  <cp:keywords/>
  <cp:lastModifiedBy>JGOR</cp:lastModifiedBy>
  <cp:revision>5</cp:revision>
  <dcterms:created xsi:type="dcterms:W3CDTF">2026-03-30T23:56:51Z</dcterms:created>
  <dcterms:modified xsi:type="dcterms:W3CDTF">2026-03-31T00:04:20Z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