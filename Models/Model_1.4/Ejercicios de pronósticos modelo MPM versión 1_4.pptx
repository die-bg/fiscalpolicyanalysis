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8" r:id="rId3"/>
    <p:sldId id="283" r:id="rId4"/>
    <p:sldId id="284" r:id="rId5"/>
    <p:sldId id="273" r:id="rId6"/>
    <p:sldId id="274" r:id="rId7"/>
    <p:sldId id="285" r:id="rId8"/>
    <p:sldId id="275" r:id="rId9"/>
    <p:sldId id="276" r:id="rId10"/>
    <p:sldId id="286" r:id="rId11"/>
    <p:sldId id="269" r:id="rId12"/>
    <p:sldId id="270" r:id="rId13"/>
    <p:sldId id="287" r:id="rId14"/>
    <p:sldId id="277" r:id="rId15"/>
    <p:sldId id="278" r:id="rId16"/>
    <p:sldId id="288" r:id="rId17"/>
    <p:sldId id="279" r:id="rId18"/>
    <p:sldId id="280" r:id="rId19"/>
    <p:sldId id="289" r:id="rId20"/>
    <p:sldId id="281" r:id="rId21"/>
    <p:sldId id="282" r:id="rId22"/>
    <p:sldId id="290" r:id="rId23"/>
    <p:sldId id="291" r:id="rId24"/>
    <p:sldId id="292" r:id="rId25"/>
  </p:sldIdLst>
  <p:sldSz cx="12192000" cy="6858000"/>
  <p:notesSz cx="7010400" cy="92964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0DACF-F4F2-49DC-A854-649E2178E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3842B5-A597-45FE-B8D1-2FFBEAE97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C70F6-02E6-4B10-8EAF-8437589B7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010B90-6FAB-43E5-8AC4-F70AD8FB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37FA55-67D5-4D3A-80ED-BB6D061C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8651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BB631-0FD9-4B60-A6FB-DF2A1B29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9BE055-6C24-4646-A5A6-B6C8ABBB9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CA80EE-44AD-4DFC-93F1-9DA364C2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EBEF1E-7A2B-4058-8828-3D28503AE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BB7D2D-B5AE-4C95-BF58-E30E8FBFD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36763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8D23A-CB58-4865-9CE7-9679EB8A3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303C36-D605-4700-8746-95C1AEDC8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FB89E1-4519-4B1D-901A-766D12A9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F946F7-F436-45B3-BCCD-D7957CFE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835809-F9AD-46FE-9656-1FD37382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3212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8B57F-CB70-4DA2-A536-91B18C53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C8B532-9185-45E5-894D-2B7702D14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D90C05-E6D3-471B-93EA-855C8AE72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C060B3-B7CB-40FA-A09D-8645FAB9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32A4D3-8502-4B0F-A2E8-8D6DDE3D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D477D3-59B2-4703-B63E-F0754784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2504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D1AFD-404F-479D-B963-720586A92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B019C7-F2D4-4D33-BB4C-D5A70E6F3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1A20AB-32BF-4FE1-9CBB-0A5D73956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4D2FA4B-0691-42E7-BBCE-35ED9C7DD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ECBA87-BD74-4247-9734-940CE7F64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51E881-7C8F-41D0-BA3B-4173D357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2EC3AB-64B3-4FDA-AE4E-C27579979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D43DE2A-9E8E-419C-9386-97341EDD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17062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59762-BD3B-4B80-B2DE-6BD0B1BD8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D73F051-38B2-4B85-9688-F11E56ECC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91EFBE-A75D-4B5D-A5A1-1F7A60AA6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88615C-0CE2-4BB9-A8C4-CBBDD05E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9154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78D26AA-A699-4555-8270-099220D4F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D2B714-C42D-42DD-A276-D9F78810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A19D27-A0CE-48B8-9170-4A1593B4A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9492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94B5B-5FD5-4C83-970C-37C07C388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5F1D05-8B52-41F0-A369-7E97ED14C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3F3624-47F6-4744-8DE7-EB0246E4E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C60961-0914-4648-AD9D-9989DCDA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4F1FF4-3ADF-40BB-A556-4AB6934F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039887-DBB4-49A8-ADF4-96D67621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1952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A9867-90E6-4BB6-8FED-1DB33C8A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714B267-82BA-4FA0-83D0-A96E573BC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7CBAD7-32F8-4EF3-967A-606F8D2A2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B15B6D-8CC3-4FF2-8F40-8D921E866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C372D4-AA69-48E8-86C1-3E32D458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6C2E19-27C9-42C1-87FE-55767C9CC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6156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A29C0-BB99-4FD5-A634-5E08E3D0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3446C0-ED7F-4E25-AF97-1D00C1494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76973E-116E-4C32-9A50-436CCDDB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DCB3E9-D834-4F5B-A9A6-9FFDA9C83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E8A261-59A2-482C-B1D2-BC02194CC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6399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65EA7A-7A0B-47CE-9E6E-1DD45ABB0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89E929-D6B0-4B56-B8F8-4EA0ADCC4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ED062D-8FF8-44A3-BE7C-5D6376E5E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1D170E-2EEA-4719-AEEB-875CCA185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0F4AC1-64C9-4EAA-9D76-BCB0A8FD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56908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C18BA-EC45-4071-BD06-2069FA615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3382" y="1122363"/>
            <a:ext cx="6354618" cy="2387600"/>
          </a:xfr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1F1AF0-F80E-4E76-B287-5AEA87171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3380" y="3602038"/>
            <a:ext cx="63546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GT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ED055A-5CD6-454A-AAE5-92213DBA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E680C-918C-48CC-B546-F7B2C17ED6E2}" type="datetime1">
              <a:rPr lang="es-GT" smtClean="0"/>
              <a:t>15/07/2026</a:t>
            </a:fld>
            <a:endParaRPr lang="es-G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BB336-DBE8-4259-AEF4-02E906475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29359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17B0-DA76-4342-8D56-9950FF9C3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1496EE-BA33-4E79-920F-0DBBF6919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81A0D0-3FED-4A2D-AAC8-CC9240CB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5C92-ADB5-4167-BB80-EDA841336DF4}" type="datetime1">
              <a:rPr lang="es-GT" smtClean="0"/>
              <a:t>15/07/2026</a:t>
            </a:fld>
            <a:endParaRPr lang="es-G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57D565-EA18-4979-87E7-53F92A9E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03F3F926-B36E-4B26-8BF5-7105B95E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1" y="6086764"/>
            <a:ext cx="838200" cy="771236"/>
          </a:xfrm>
        </p:spPr>
        <p:txBody>
          <a:bodyPr/>
          <a:lstStyle>
            <a:lvl1pPr>
              <a:defRPr sz="2800" b="1">
                <a:solidFill>
                  <a:srgbClr val="00457F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888741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17809-35A2-4AD1-AEC3-23DB9176AC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D86620-9DB3-4D5D-B063-8DDEA9DEF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02714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499E1-8891-46E0-B2C9-152297196A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ACF482-2947-49F4-A17C-3AEE4D0FA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AF8339-90DE-403C-AA85-16973C5C0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4F3B7A-247A-48CD-AC20-76FC0A77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42838-774C-416C-B759-B14615B51330}" type="datetime1">
              <a:rPr lang="es-GT" smtClean="0"/>
              <a:t>15/07/2026</a:t>
            </a:fld>
            <a:endParaRPr lang="es-GT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E663ED-EC26-4150-8E10-A10017BA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6025DD45-EA0C-407D-9D11-324873BE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1" y="6086764"/>
            <a:ext cx="838200" cy="771236"/>
          </a:xfrm>
        </p:spPr>
        <p:txBody>
          <a:bodyPr/>
          <a:lstStyle>
            <a:lvl1pPr>
              <a:defRPr sz="2800">
                <a:solidFill>
                  <a:srgbClr val="00457F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216595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5567A-561F-4793-8509-B08FAD492E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C78C10-BDA2-42CD-A03C-78DE6412A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42473-8BD4-49E8-8326-4E3083607660}" type="datetime1">
              <a:rPr lang="es-GT" smtClean="0"/>
              <a:t>15/07/2026</a:t>
            </a:fld>
            <a:endParaRPr lang="es-GT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8FAFA5-9E70-4E7F-BED5-B038D9112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5683CB-7556-436F-B1B5-E9BE3C0FA3A3}"/>
              </a:ext>
            </a:extLst>
          </p:cNvPr>
          <p:cNvSpPr txBox="1">
            <a:spLocks/>
          </p:cNvSpPr>
          <p:nvPr userDrawn="1"/>
        </p:nvSpPr>
        <p:spPr>
          <a:xfrm>
            <a:off x="11353801" y="6086764"/>
            <a:ext cx="838200" cy="771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GT"/>
            </a:defPPr>
            <a:lvl1pPr marL="0" algn="r" defTabSz="914400" rtl="0" eaLnBrk="1" latinLnBrk="0" hangingPunct="1">
              <a:defRPr sz="2800" kern="1200">
                <a:solidFill>
                  <a:srgbClr val="00457F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F2F6B7A7-EA37-482D-960D-1E369C94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434" y="6068292"/>
            <a:ext cx="803564" cy="789708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824948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7F57FFB-539C-4AF2-A3DD-D33311FE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8C78-1D52-410F-B82F-3D1612FB0D62}" type="datetime1">
              <a:rPr lang="es-GT" smtClean="0"/>
              <a:t>15/07/2026</a:t>
            </a:fld>
            <a:endParaRPr lang="es-GT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FEC03E-CE25-485E-AEDA-3276D519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34A354B5-693F-47AF-872D-99118E57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434" y="6068292"/>
            <a:ext cx="803564" cy="789708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408171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DB5AB-7308-4200-AFDE-29940A8118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C89800-6011-4D28-BCAE-1AD7D5963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A45710-1BE2-4A84-8261-58C197C23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A4A150-D102-4F6D-B195-A31A06311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5F3F-D87B-46B3-BEE9-6BE38B7CBA21}" type="datetime1">
              <a:rPr lang="es-GT" smtClean="0"/>
              <a:t>15/07/2026</a:t>
            </a:fld>
            <a:endParaRPr lang="es-GT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B9C2B7-3220-4FCE-8FD3-FA955EBB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ACCFC7-0481-4761-A6AB-66B282E1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3377254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2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1EF52BF-F278-4F59-B6CD-94A39AC60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E0F08A-0A05-4E9A-B4D4-D0BF6244C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EF49F2-9D24-42CC-BCC5-C25C83BB7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4F21E-8F8A-400E-938A-271A86B87F1D}" type="datetimeFigureOut">
              <a:rPr lang="es-GT" smtClean="0"/>
              <a:t>14/07/2026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443E7D-83E0-4FC4-8A63-347DBA6EB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3CBB7A-997A-4868-84BB-4FB5625A6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52986-70FE-431D-A339-2BE0F35D2F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56909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DFF341-FBA4-439B-9D88-63293004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7D3518-95BB-4FF3-9705-B5F55A4CC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B49FC-7C40-451A-A77F-27388F45C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D7216-F8F5-42AB-9B39-4D0039E86A01}" type="datetime1">
              <a:rPr lang="es-GT" smtClean="0"/>
              <a:t>15/07/2026</a:t>
            </a:fld>
            <a:endParaRPr lang="es-G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FEB1C2-E896-4FB0-9D76-CFE8CB7F6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75B224-72C0-4415-B94C-59DBDD4B1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1AF16-C9BB-4ECC-8D85-F1550267F355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427658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0B60F34-1F7A-4EF3-8F6D-987DD6888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3381" y="1122363"/>
            <a:ext cx="6641605" cy="2387600"/>
          </a:xfrm>
        </p:spPr>
        <p:txBody>
          <a:bodyPr/>
          <a:lstStyle/>
          <a:p>
            <a:r>
              <a:rPr lang="es-ES" dirty="0"/>
              <a:t>Ejercicios de pronósticos Modelo para Proyecciones Macroeconómicas (MPM) versión 1.4</a:t>
            </a:r>
            <a:endParaRPr lang="es-GT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ABFD3C15-762A-4D88-9B9E-0057B17D5A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Julio 2026</a:t>
            </a:r>
            <a:endParaRPr lang="es-GT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72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1B778E-506D-438C-BC5E-6C1865953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687"/>
            <a:ext cx="10515600" cy="2904636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A continuación se presentan algunos resultados de pronósticos de largo plazo elaboradas con el modelo MPM.</a:t>
            </a:r>
          </a:p>
          <a:p>
            <a:pPr marL="0" indent="0" algn="just">
              <a:buNone/>
            </a:pPr>
            <a:endParaRPr lang="es-GT" dirty="0"/>
          </a:p>
          <a:p>
            <a:pPr marL="0" indent="0" algn="just">
              <a:buNone/>
            </a:pPr>
            <a:r>
              <a:rPr lang="es-GT" dirty="0"/>
              <a:t>Para este ejercicio solo se incorporó la meta de inflación doméstica igual al 4% manteniendo todos los choques iguales a los escenarios construidos en la versión 1.3.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C3FA6F-582E-437D-A1F0-D6100ECD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2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81014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5BFAF-5F7F-4131-BD7A-9929E191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Inflación doméstica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27982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2237EAB-CB60-419A-B457-7F54F79F7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296398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6821319-A08F-41C1-AD1F-9C0BCDDA9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Sin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39183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71188-426C-49AB-BF2E-AA6EA9FC1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Crecimiento doméstico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082256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8DD9AD9-FBD1-4123-84B6-3D18FE238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109414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62CC4DD-C7FA-4B31-A3D6-561146B97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Sin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503296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021FC-74CE-4F04-9424-82376A9D8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Tasa de interés líder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F09B97-EA94-42DB-978C-8DED11302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46894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6ED7040-13B4-4D8D-AB10-FC8C66A86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271811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D2061EA-7208-48FF-8D1D-9645E22D9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Sin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293835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5C6EE-A200-477F-AC04-01055DFDF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Inversión privada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8F7AF9-1DD5-41D6-AA16-92EF83F56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44307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2A44137-4366-4B26-B6B1-34CCBCBE9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559961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9548DCE-903B-4451-91EC-4C1E35DC1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Sin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1551381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56673-16CE-4631-995E-F32B7DC3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Activos internos netos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F54DD7-76AD-4A3B-A103-C4414767E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87587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D78996-C042-4986-99DE-250563736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176089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075FD7-6224-426F-B836-8CD5F0D1B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Sin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1222210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3FC9B-9292-4571-AEBC-4FC4C135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Tasa de depreciación cambiaria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259B00-E04F-432B-B560-8FEC12E60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51070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601D0AE-9019-4FAC-8EE8-A4E7AD567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837137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D52E1AE-1DEA-4998-BD4E-574066FA7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Sin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372106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36402-EEED-412C-8439-B8B904FC5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Prima por riesgo país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8B4690-192C-4E02-8C2C-FF517EA70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92384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BC3F69-C9CD-4E2A-ADAE-E7023767B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1105143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DA28AB-7B5D-42A4-9D17-C1A80F630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0"/>
            <a:ext cx="1157287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1582DF-EE8F-4833-AED1-4AD9F16C37AD}"/>
              </a:ext>
            </a:extLst>
          </p:cNvPr>
          <p:cNvSpPr txBox="1"/>
          <p:nvPr/>
        </p:nvSpPr>
        <p:spPr>
          <a:xfrm>
            <a:off x="10323817" y="791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Sin meta</a:t>
            </a:r>
            <a:endParaRPr lang="es-GT" b="1" dirty="0"/>
          </a:p>
        </p:txBody>
      </p:sp>
    </p:spTree>
    <p:extLst>
      <p:ext uri="{BB962C8B-B14F-4D97-AF65-F5344CB8AC3E}">
        <p14:creationId xmlns:p14="http://schemas.microsoft.com/office/powerpoint/2010/main" val="11826171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Libre Franklin"/>
        <a:ea typeface=""/>
        <a:cs typeface=""/>
      </a:majorFont>
      <a:minorFont>
        <a:latin typeface="Libre Frankl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110</Words>
  <Application>Microsoft Office PowerPoint</Application>
  <PresentationFormat>Panorámica</PresentationFormat>
  <Paragraphs>27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Libre Franklin</vt:lpstr>
      <vt:lpstr>Tema de Office</vt:lpstr>
      <vt:lpstr>1_Tema de Office</vt:lpstr>
      <vt:lpstr>Ejercicios de pronósticos Modelo para Proyecciones Macroeconómicas (MPM) versión 1.4</vt:lpstr>
      <vt:lpstr>Presentación de PowerPoint</vt:lpstr>
      <vt:lpstr>Inflación doméstica</vt:lpstr>
      <vt:lpstr>Presentación de PowerPoint</vt:lpstr>
      <vt:lpstr>Presentación de PowerPoint</vt:lpstr>
      <vt:lpstr>Crecimiento doméstico</vt:lpstr>
      <vt:lpstr>Presentación de PowerPoint</vt:lpstr>
      <vt:lpstr>Presentación de PowerPoint</vt:lpstr>
      <vt:lpstr>Tasa de interés líder</vt:lpstr>
      <vt:lpstr>Presentación de PowerPoint</vt:lpstr>
      <vt:lpstr>Presentación de PowerPoint</vt:lpstr>
      <vt:lpstr>Inversión privada</vt:lpstr>
      <vt:lpstr>Presentación de PowerPoint</vt:lpstr>
      <vt:lpstr>Presentación de PowerPoint</vt:lpstr>
      <vt:lpstr>Activos internos netos</vt:lpstr>
      <vt:lpstr>Presentación de PowerPoint</vt:lpstr>
      <vt:lpstr>Presentación de PowerPoint</vt:lpstr>
      <vt:lpstr>Tasa de depreciación cambiaria</vt:lpstr>
      <vt:lpstr>Presentación de PowerPoint</vt:lpstr>
      <vt:lpstr>Presentación de PowerPoint</vt:lpstr>
      <vt:lpstr>Prima por riesgo país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JGOR</dc:creator>
  <cp:lastModifiedBy>JGOR</cp:lastModifiedBy>
  <cp:revision>6</cp:revision>
  <cp:lastPrinted>2026-07-16T00:47:00Z</cp:lastPrinted>
  <dcterms:created xsi:type="dcterms:W3CDTF">2026-07-15T23:20:58Z</dcterms:created>
  <dcterms:modified xsi:type="dcterms:W3CDTF">2026-07-16T01:01:37Z</dcterms:modified>
</cp:coreProperties>
</file>