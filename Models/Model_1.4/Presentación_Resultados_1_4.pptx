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68" r:id="rId2"/>
    <p:sldId id="287" r:id="rId3"/>
    <p:sldId id="284" r:id="rId4"/>
    <p:sldId id="280" r:id="rId5"/>
    <p:sldId id="278" r:id="rId6"/>
    <p:sldId id="285" r:id="rId7"/>
    <p:sldId id="281" r:id="rId8"/>
    <p:sldId id="286" r:id="rId9"/>
    <p:sldId id="283" r:id="rId10"/>
    <p:sldId id="282" r:id="rId11"/>
    <p:sldId id="267" r:id="rId12"/>
    <p:sldId id="260" r:id="rId13"/>
    <p:sldId id="269" r:id="rId14"/>
    <p:sldId id="270" r:id="rId15"/>
    <p:sldId id="271" r:id="rId16"/>
    <p:sldId id="272" r:id="rId17"/>
    <p:sldId id="273" r:id="rId18"/>
    <p:sldId id="274" r:id="rId19"/>
    <p:sldId id="289" r:id="rId20"/>
    <p:sldId id="275" r:id="rId21"/>
    <p:sldId id="276" r:id="rId22"/>
    <p:sldId id="277" r:id="rId23"/>
    <p:sldId id="288" r:id="rId24"/>
  </p:sldIdLst>
  <p:sldSz cx="12192000" cy="6858000"/>
  <p:notesSz cx="6858000" cy="9144000"/>
  <p:defaultText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57F"/>
    <a:srgbClr val="FFFFFF"/>
    <a:srgbClr val="C24006"/>
    <a:srgbClr val="0077DA"/>
    <a:srgbClr val="EBF6FF"/>
    <a:srgbClr val="FBFDFF"/>
    <a:srgbClr val="F7F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01" autoAdjust="0"/>
    <p:restoredTop sz="94660"/>
  </p:normalViewPr>
  <p:slideViewPr>
    <p:cSldViewPr snapToGrid="0">
      <p:cViewPr varScale="1">
        <p:scale>
          <a:sx n="109" d="100"/>
          <a:sy n="109" d="100"/>
        </p:scale>
        <p:origin x="58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GT"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DCCCFF-D9F4-4A36-BDD6-92712EFED9A0}" type="datetimeFigureOut">
              <a:rPr lang="es-GT" smtClean="0"/>
              <a:t>22/07/2026</a:t>
            </a:fld>
            <a:endParaRPr lang="es-GT"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GT"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GT"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0715FF-9FEB-4C81-B95B-03B8B2F8FA06}" type="slidenum">
              <a:rPr lang="es-GT" smtClean="0"/>
              <a:t>‹Nº›</a:t>
            </a:fld>
            <a:endParaRPr lang="es-GT" dirty="0"/>
          </a:p>
        </p:txBody>
      </p:sp>
    </p:spTree>
    <p:extLst>
      <p:ext uri="{BB962C8B-B14F-4D97-AF65-F5344CB8AC3E}">
        <p14:creationId xmlns:p14="http://schemas.microsoft.com/office/powerpoint/2010/main" val="3617050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FC18BA-EC45-4071-BD06-2069FA61541E}"/>
              </a:ext>
            </a:extLst>
          </p:cNvPr>
          <p:cNvSpPr>
            <a:spLocks noGrp="1"/>
          </p:cNvSpPr>
          <p:nvPr>
            <p:ph type="ctrTitle"/>
          </p:nvPr>
        </p:nvSpPr>
        <p:spPr>
          <a:xfrm>
            <a:off x="4313382" y="1122363"/>
            <a:ext cx="6354618" cy="2387600"/>
          </a:xfrm>
        </p:spPr>
        <p:txBody>
          <a:bodyPr anchor="b">
            <a:normAutofit/>
          </a:bodyPr>
          <a:lstStyle>
            <a:lvl1pPr algn="ctr">
              <a:defRPr sz="2800" b="1">
                <a:solidFill>
                  <a:schemeClr val="bg1"/>
                </a:solidFill>
                <a:latin typeface="Libre Franklin" pitchFamily="2" charset="0"/>
              </a:defRPr>
            </a:lvl1pPr>
          </a:lstStyle>
          <a:p>
            <a:r>
              <a:rPr lang="es-ES" dirty="0"/>
              <a:t>Haga clic para modificar el estilo de título del patrón</a:t>
            </a:r>
            <a:endParaRPr lang="es-GT" dirty="0"/>
          </a:p>
        </p:txBody>
      </p:sp>
      <p:sp>
        <p:nvSpPr>
          <p:cNvPr id="3" name="Subtítulo 2">
            <a:extLst>
              <a:ext uri="{FF2B5EF4-FFF2-40B4-BE49-F238E27FC236}">
                <a16:creationId xmlns:a16="http://schemas.microsoft.com/office/drawing/2014/main" id="{381F1AF0-F80E-4E76-B287-5AEA871715B7}"/>
              </a:ext>
            </a:extLst>
          </p:cNvPr>
          <p:cNvSpPr>
            <a:spLocks noGrp="1"/>
          </p:cNvSpPr>
          <p:nvPr>
            <p:ph type="subTitle" idx="1"/>
          </p:nvPr>
        </p:nvSpPr>
        <p:spPr>
          <a:xfrm>
            <a:off x="4313380" y="3602038"/>
            <a:ext cx="635461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modificar el estilo de subtítulo del patrón</a:t>
            </a:r>
            <a:endParaRPr lang="es-GT" dirty="0"/>
          </a:p>
        </p:txBody>
      </p:sp>
      <p:sp>
        <p:nvSpPr>
          <p:cNvPr id="4" name="Marcador de fecha 3">
            <a:extLst>
              <a:ext uri="{FF2B5EF4-FFF2-40B4-BE49-F238E27FC236}">
                <a16:creationId xmlns:a16="http://schemas.microsoft.com/office/drawing/2014/main" id="{ABED055A-5CD6-454A-AAE5-92213DBA5652}"/>
              </a:ext>
            </a:extLst>
          </p:cNvPr>
          <p:cNvSpPr>
            <a:spLocks noGrp="1"/>
          </p:cNvSpPr>
          <p:nvPr>
            <p:ph type="dt" sz="half" idx="10"/>
          </p:nvPr>
        </p:nvSpPr>
        <p:spPr/>
        <p:txBody>
          <a:bodyPr/>
          <a:lstStyle/>
          <a:p>
            <a:fld id="{CBAE680C-918C-48CC-B546-F7B2C17ED6E2}" type="datetime1">
              <a:rPr lang="es-GT" smtClean="0"/>
              <a:t>22/07/2026</a:t>
            </a:fld>
            <a:endParaRPr lang="es-GT" dirty="0"/>
          </a:p>
        </p:txBody>
      </p:sp>
      <p:sp>
        <p:nvSpPr>
          <p:cNvPr id="5" name="Marcador de pie de página 4">
            <a:extLst>
              <a:ext uri="{FF2B5EF4-FFF2-40B4-BE49-F238E27FC236}">
                <a16:creationId xmlns:a16="http://schemas.microsoft.com/office/drawing/2014/main" id="{911BB336-DBE8-4259-AEF4-02E9064758A1}"/>
              </a:ext>
            </a:extLst>
          </p:cNvPr>
          <p:cNvSpPr>
            <a:spLocks noGrp="1"/>
          </p:cNvSpPr>
          <p:nvPr>
            <p:ph type="ftr" sz="quarter" idx="11"/>
          </p:nvPr>
        </p:nvSpPr>
        <p:spPr/>
        <p:txBody>
          <a:bodyPr/>
          <a:lstStyle/>
          <a:p>
            <a:endParaRPr lang="es-GT" dirty="0"/>
          </a:p>
        </p:txBody>
      </p:sp>
    </p:spTree>
    <p:extLst>
      <p:ext uri="{BB962C8B-B14F-4D97-AF65-F5344CB8AC3E}">
        <p14:creationId xmlns:p14="http://schemas.microsoft.com/office/powerpoint/2010/main" val="3511805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FA17B0-DA76-4342-8D56-9950FF9C38F3}"/>
              </a:ext>
            </a:extLst>
          </p:cNvPr>
          <p:cNvSpPr>
            <a:spLocks noGrp="1"/>
          </p:cNvSpPr>
          <p:nvPr>
            <p:ph type="title" hasCustomPrompt="1"/>
          </p:nvPr>
        </p:nvSpPr>
        <p:spPr/>
        <p:txBody>
          <a:bodyPr>
            <a:normAutofit/>
          </a:bodyPr>
          <a:lstStyle>
            <a:lvl1pPr>
              <a:defRPr sz="2400" b="1">
                <a:solidFill>
                  <a:srgbClr val="00457F"/>
                </a:solidFill>
              </a:defRPr>
            </a:lvl1pPr>
          </a:lstStyle>
          <a:p>
            <a:r>
              <a:rPr lang="es-ES" dirty="0"/>
              <a:t>HAGA CLIC PARA MODIFICAR EL ESTILO DE TÍTULO DEL PATRÓN</a:t>
            </a:r>
            <a:endParaRPr lang="es-GT" dirty="0"/>
          </a:p>
        </p:txBody>
      </p:sp>
      <p:sp>
        <p:nvSpPr>
          <p:cNvPr id="3" name="Marcador de contenido 2">
            <a:extLst>
              <a:ext uri="{FF2B5EF4-FFF2-40B4-BE49-F238E27FC236}">
                <a16:creationId xmlns:a16="http://schemas.microsoft.com/office/drawing/2014/main" id="{111496EE-BA33-4E79-920F-0DBBF691922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fecha 3">
            <a:extLst>
              <a:ext uri="{FF2B5EF4-FFF2-40B4-BE49-F238E27FC236}">
                <a16:creationId xmlns:a16="http://schemas.microsoft.com/office/drawing/2014/main" id="{F681A0D0-3FED-4A2D-AAC8-CC9240CBB65F}"/>
              </a:ext>
            </a:extLst>
          </p:cNvPr>
          <p:cNvSpPr>
            <a:spLocks noGrp="1"/>
          </p:cNvSpPr>
          <p:nvPr>
            <p:ph type="dt" sz="half" idx="10"/>
          </p:nvPr>
        </p:nvSpPr>
        <p:spPr/>
        <p:txBody>
          <a:bodyPr/>
          <a:lstStyle/>
          <a:p>
            <a:fld id="{D6E95C92-ADB5-4167-BB80-EDA841336DF4}" type="datetime1">
              <a:rPr lang="es-GT" smtClean="0"/>
              <a:t>22/07/2026</a:t>
            </a:fld>
            <a:endParaRPr lang="es-GT" dirty="0"/>
          </a:p>
        </p:txBody>
      </p:sp>
      <p:sp>
        <p:nvSpPr>
          <p:cNvPr id="5" name="Marcador de pie de página 4">
            <a:extLst>
              <a:ext uri="{FF2B5EF4-FFF2-40B4-BE49-F238E27FC236}">
                <a16:creationId xmlns:a16="http://schemas.microsoft.com/office/drawing/2014/main" id="{C157D565-EA18-4979-87E7-53F92A9E70E5}"/>
              </a:ext>
            </a:extLst>
          </p:cNvPr>
          <p:cNvSpPr>
            <a:spLocks noGrp="1"/>
          </p:cNvSpPr>
          <p:nvPr>
            <p:ph type="ftr" sz="quarter" idx="11"/>
          </p:nvPr>
        </p:nvSpPr>
        <p:spPr/>
        <p:txBody>
          <a:bodyPr/>
          <a:lstStyle/>
          <a:p>
            <a:endParaRPr lang="es-GT" dirty="0"/>
          </a:p>
        </p:txBody>
      </p:sp>
      <p:sp>
        <p:nvSpPr>
          <p:cNvPr id="7" name="Marcador de número de diapositiva 5">
            <a:extLst>
              <a:ext uri="{FF2B5EF4-FFF2-40B4-BE49-F238E27FC236}">
                <a16:creationId xmlns:a16="http://schemas.microsoft.com/office/drawing/2014/main" id="{03F3F926-B36E-4B26-8BF5-7105B95E9149}"/>
              </a:ext>
            </a:extLst>
          </p:cNvPr>
          <p:cNvSpPr>
            <a:spLocks noGrp="1"/>
          </p:cNvSpPr>
          <p:nvPr>
            <p:ph type="sldNum" sz="quarter" idx="12"/>
          </p:nvPr>
        </p:nvSpPr>
        <p:spPr>
          <a:xfrm>
            <a:off x="11353801" y="6086764"/>
            <a:ext cx="838200" cy="771236"/>
          </a:xfrm>
        </p:spPr>
        <p:txBody>
          <a:bodyPr/>
          <a:lstStyle>
            <a:lvl1pPr>
              <a:defRPr sz="2800" b="1">
                <a:solidFill>
                  <a:srgbClr val="00457F"/>
                </a:solidFill>
                <a:latin typeface="+mj-lt"/>
              </a:defRPr>
            </a:lvl1pPr>
          </a:lstStyle>
          <a:p>
            <a:fld id="{2DD1AF16-C9BB-4ECC-8D85-F1550267F355}" type="slidenum">
              <a:rPr lang="es-GT" smtClean="0"/>
              <a:pPr/>
              <a:t>‹Nº›</a:t>
            </a:fld>
            <a:endParaRPr lang="es-GT" dirty="0"/>
          </a:p>
        </p:txBody>
      </p:sp>
    </p:spTree>
    <p:extLst>
      <p:ext uri="{BB962C8B-B14F-4D97-AF65-F5344CB8AC3E}">
        <p14:creationId xmlns:p14="http://schemas.microsoft.com/office/powerpoint/2010/main" val="489251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017809-35A2-4AD1-AEC3-23DB9176AC3B}"/>
              </a:ext>
            </a:extLst>
          </p:cNvPr>
          <p:cNvSpPr>
            <a:spLocks noGrp="1"/>
          </p:cNvSpPr>
          <p:nvPr>
            <p:ph type="title" hasCustomPrompt="1"/>
          </p:nvPr>
        </p:nvSpPr>
        <p:spPr>
          <a:xfrm>
            <a:off x="831850" y="1709738"/>
            <a:ext cx="10515600" cy="2852737"/>
          </a:xfrm>
        </p:spPr>
        <p:txBody>
          <a:bodyPr anchor="b">
            <a:normAutofit/>
          </a:bodyPr>
          <a:lstStyle>
            <a:lvl1pPr>
              <a:defRPr sz="4800" b="1">
                <a:solidFill>
                  <a:schemeClr val="bg1"/>
                </a:solidFill>
              </a:defRPr>
            </a:lvl1pPr>
          </a:lstStyle>
          <a:p>
            <a:r>
              <a:rPr lang="es-ES" dirty="0"/>
              <a:t>HAGA CLIC PARA MODIFICAR EL ESTILO DE TÍTULO DEL PATRÓN</a:t>
            </a:r>
            <a:endParaRPr lang="es-GT" dirty="0"/>
          </a:p>
        </p:txBody>
      </p:sp>
      <p:sp>
        <p:nvSpPr>
          <p:cNvPr id="3" name="Marcador de texto 2">
            <a:extLst>
              <a:ext uri="{FF2B5EF4-FFF2-40B4-BE49-F238E27FC236}">
                <a16:creationId xmlns:a16="http://schemas.microsoft.com/office/drawing/2014/main" id="{33D86620-9DB3-4D5D-B063-8DDEA9DEFE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Tree>
    <p:extLst>
      <p:ext uri="{BB962C8B-B14F-4D97-AF65-F5344CB8AC3E}">
        <p14:creationId xmlns:p14="http://schemas.microsoft.com/office/powerpoint/2010/main" val="4189072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0499E1-8891-46E0-B2C9-152297196A66}"/>
              </a:ext>
            </a:extLst>
          </p:cNvPr>
          <p:cNvSpPr>
            <a:spLocks noGrp="1"/>
          </p:cNvSpPr>
          <p:nvPr>
            <p:ph type="title" hasCustomPrompt="1"/>
          </p:nvPr>
        </p:nvSpPr>
        <p:spPr/>
        <p:txBody>
          <a:bodyPr>
            <a:normAutofit/>
          </a:bodyPr>
          <a:lstStyle>
            <a:lvl1pPr>
              <a:defRPr sz="2400" b="1">
                <a:solidFill>
                  <a:srgbClr val="00457F"/>
                </a:solidFill>
              </a:defRPr>
            </a:lvl1pPr>
          </a:lstStyle>
          <a:p>
            <a:r>
              <a:rPr lang="es-ES" dirty="0"/>
              <a:t>HAGA CLIC PARA MODIFICAR EL ESTILO DE TÍTULO DEL PATRÓN</a:t>
            </a:r>
            <a:endParaRPr lang="es-GT" dirty="0"/>
          </a:p>
        </p:txBody>
      </p:sp>
      <p:sp>
        <p:nvSpPr>
          <p:cNvPr id="3" name="Marcador de contenido 2">
            <a:extLst>
              <a:ext uri="{FF2B5EF4-FFF2-40B4-BE49-F238E27FC236}">
                <a16:creationId xmlns:a16="http://schemas.microsoft.com/office/drawing/2014/main" id="{12ACF482-2947-49F4-A17C-3AEE4D0FA32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contenido 3">
            <a:extLst>
              <a:ext uri="{FF2B5EF4-FFF2-40B4-BE49-F238E27FC236}">
                <a16:creationId xmlns:a16="http://schemas.microsoft.com/office/drawing/2014/main" id="{81AF8339-90DE-403C-AA85-16973C5C065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5" name="Marcador de fecha 4">
            <a:extLst>
              <a:ext uri="{FF2B5EF4-FFF2-40B4-BE49-F238E27FC236}">
                <a16:creationId xmlns:a16="http://schemas.microsoft.com/office/drawing/2014/main" id="{7C4F3B7A-247A-48CD-AC20-76FC0A77FCF6}"/>
              </a:ext>
            </a:extLst>
          </p:cNvPr>
          <p:cNvSpPr>
            <a:spLocks noGrp="1"/>
          </p:cNvSpPr>
          <p:nvPr>
            <p:ph type="dt" sz="half" idx="10"/>
          </p:nvPr>
        </p:nvSpPr>
        <p:spPr/>
        <p:txBody>
          <a:bodyPr/>
          <a:lstStyle/>
          <a:p>
            <a:fld id="{5B842838-774C-416C-B759-B14615B51330}" type="datetime1">
              <a:rPr lang="es-GT" smtClean="0"/>
              <a:t>22/07/2026</a:t>
            </a:fld>
            <a:endParaRPr lang="es-GT" dirty="0"/>
          </a:p>
        </p:txBody>
      </p:sp>
      <p:sp>
        <p:nvSpPr>
          <p:cNvPr id="6" name="Marcador de pie de página 5">
            <a:extLst>
              <a:ext uri="{FF2B5EF4-FFF2-40B4-BE49-F238E27FC236}">
                <a16:creationId xmlns:a16="http://schemas.microsoft.com/office/drawing/2014/main" id="{0CE663ED-EC26-4150-8E10-A10017BA671E}"/>
              </a:ext>
            </a:extLst>
          </p:cNvPr>
          <p:cNvSpPr>
            <a:spLocks noGrp="1"/>
          </p:cNvSpPr>
          <p:nvPr>
            <p:ph type="ftr" sz="quarter" idx="11"/>
          </p:nvPr>
        </p:nvSpPr>
        <p:spPr/>
        <p:txBody>
          <a:bodyPr/>
          <a:lstStyle/>
          <a:p>
            <a:endParaRPr lang="es-GT" dirty="0"/>
          </a:p>
        </p:txBody>
      </p:sp>
      <p:sp>
        <p:nvSpPr>
          <p:cNvPr id="8" name="Marcador de número de diapositiva 5">
            <a:extLst>
              <a:ext uri="{FF2B5EF4-FFF2-40B4-BE49-F238E27FC236}">
                <a16:creationId xmlns:a16="http://schemas.microsoft.com/office/drawing/2014/main" id="{6025DD45-EA0C-407D-9D11-324873BE580E}"/>
              </a:ext>
            </a:extLst>
          </p:cNvPr>
          <p:cNvSpPr>
            <a:spLocks noGrp="1"/>
          </p:cNvSpPr>
          <p:nvPr>
            <p:ph type="sldNum" sz="quarter" idx="12"/>
          </p:nvPr>
        </p:nvSpPr>
        <p:spPr>
          <a:xfrm>
            <a:off x="11353801" y="6086764"/>
            <a:ext cx="838200" cy="771236"/>
          </a:xfrm>
        </p:spPr>
        <p:txBody>
          <a:bodyPr/>
          <a:lstStyle>
            <a:lvl1pPr>
              <a:defRPr sz="2800">
                <a:solidFill>
                  <a:srgbClr val="00457F"/>
                </a:solidFill>
                <a:latin typeface="+mj-lt"/>
              </a:defRPr>
            </a:lvl1pPr>
          </a:lstStyle>
          <a:p>
            <a:fld id="{2DD1AF16-C9BB-4ECC-8D85-F1550267F355}" type="slidenum">
              <a:rPr lang="es-GT" smtClean="0"/>
              <a:pPr/>
              <a:t>‹Nº›</a:t>
            </a:fld>
            <a:endParaRPr lang="es-GT" dirty="0"/>
          </a:p>
        </p:txBody>
      </p:sp>
    </p:spTree>
    <p:extLst>
      <p:ext uri="{BB962C8B-B14F-4D97-AF65-F5344CB8AC3E}">
        <p14:creationId xmlns:p14="http://schemas.microsoft.com/office/powerpoint/2010/main" val="4036703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Solo el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35567A-561F-4793-8509-B08FAD492E39}"/>
              </a:ext>
            </a:extLst>
          </p:cNvPr>
          <p:cNvSpPr>
            <a:spLocks noGrp="1"/>
          </p:cNvSpPr>
          <p:nvPr>
            <p:ph type="title" hasCustomPrompt="1"/>
          </p:nvPr>
        </p:nvSpPr>
        <p:spPr/>
        <p:txBody>
          <a:bodyPr>
            <a:normAutofit/>
          </a:bodyPr>
          <a:lstStyle>
            <a:lvl1pPr>
              <a:defRPr sz="2400" b="1">
                <a:solidFill>
                  <a:srgbClr val="00457F"/>
                </a:solidFill>
              </a:defRPr>
            </a:lvl1pPr>
          </a:lstStyle>
          <a:p>
            <a:r>
              <a:rPr lang="es-ES" dirty="0"/>
              <a:t>HAGA CLIC PARA MODIFICAR EL ESTILO DE TÍTULO DEL PATRÓN</a:t>
            </a:r>
            <a:endParaRPr lang="es-GT" dirty="0"/>
          </a:p>
        </p:txBody>
      </p:sp>
      <p:sp>
        <p:nvSpPr>
          <p:cNvPr id="3" name="Marcador de fecha 2">
            <a:extLst>
              <a:ext uri="{FF2B5EF4-FFF2-40B4-BE49-F238E27FC236}">
                <a16:creationId xmlns:a16="http://schemas.microsoft.com/office/drawing/2014/main" id="{48C78C10-BDA2-42CD-A03C-78DE6412A4E2}"/>
              </a:ext>
            </a:extLst>
          </p:cNvPr>
          <p:cNvSpPr>
            <a:spLocks noGrp="1"/>
          </p:cNvSpPr>
          <p:nvPr>
            <p:ph type="dt" sz="half" idx="10"/>
          </p:nvPr>
        </p:nvSpPr>
        <p:spPr/>
        <p:txBody>
          <a:bodyPr/>
          <a:lstStyle/>
          <a:p>
            <a:fld id="{7E542473-8BD4-49E8-8326-4E3083607660}" type="datetime1">
              <a:rPr lang="es-GT" smtClean="0"/>
              <a:t>22/07/2026</a:t>
            </a:fld>
            <a:endParaRPr lang="es-GT" dirty="0"/>
          </a:p>
        </p:txBody>
      </p:sp>
      <p:sp>
        <p:nvSpPr>
          <p:cNvPr id="4" name="Marcador de pie de página 3">
            <a:extLst>
              <a:ext uri="{FF2B5EF4-FFF2-40B4-BE49-F238E27FC236}">
                <a16:creationId xmlns:a16="http://schemas.microsoft.com/office/drawing/2014/main" id="{3C8FAFA5-9E70-4E7F-BED5-B038D911216B}"/>
              </a:ext>
            </a:extLst>
          </p:cNvPr>
          <p:cNvSpPr>
            <a:spLocks noGrp="1"/>
          </p:cNvSpPr>
          <p:nvPr>
            <p:ph type="ftr" sz="quarter" idx="11"/>
          </p:nvPr>
        </p:nvSpPr>
        <p:spPr/>
        <p:txBody>
          <a:bodyPr/>
          <a:lstStyle/>
          <a:p>
            <a:endParaRPr lang="es-GT" dirty="0"/>
          </a:p>
        </p:txBody>
      </p:sp>
      <p:sp>
        <p:nvSpPr>
          <p:cNvPr id="6" name="Marcador de número de diapositiva 5">
            <a:extLst>
              <a:ext uri="{FF2B5EF4-FFF2-40B4-BE49-F238E27FC236}">
                <a16:creationId xmlns:a16="http://schemas.microsoft.com/office/drawing/2014/main" id="{865683CB-7556-436F-B1B5-E9BE3C0FA3A3}"/>
              </a:ext>
            </a:extLst>
          </p:cNvPr>
          <p:cNvSpPr txBox="1">
            <a:spLocks/>
          </p:cNvSpPr>
          <p:nvPr userDrawn="1"/>
        </p:nvSpPr>
        <p:spPr>
          <a:xfrm>
            <a:off x="11353801" y="6086764"/>
            <a:ext cx="838200" cy="771236"/>
          </a:xfrm>
          <a:prstGeom prst="rect">
            <a:avLst/>
          </a:prstGeom>
        </p:spPr>
        <p:txBody>
          <a:bodyPr vert="horz" lIns="91440" tIns="45720" rIns="91440" bIns="45720" rtlCol="0" anchor="ctr"/>
          <a:lstStyle>
            <a:defPPr>
              <a:defRPr lang="es-GT"/>
            </a:defPPr>
            <a:lvl1pPr marL="0" algn="r" defTabSz="914400" rtl="0" eaLnBrk="1" latinLnBrk="0" hangingPunct="1">
              <a:defRPr sz="2800" kern="1200">
                <a:solidFill>
                  <a:srgbClr val="00457F"/>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DD1AF16-C9BB-4ECC-8D85-F1550267F355}" type="slidenum">
              <a:rPr lang="es-GT" smtClean="0"/>
              <a:pPr/>
              <a:t>‹Nº›</a:t>
            </a:fld>
            <a:endParaRPr lang="es-GT" dirty="0"/>
          </a:p>
        </p:txBody>
      </p:sp>
      <p:sp>
        <p:nvSpPr>
          <p:cNvPr id="7" name="Marcador de número de diapositiva 5">
            <a:extLst>
              <a:ext uri="{FF2B5EF4-FFF2-40B4-BE49-F238E27FC236}">
                <a16:creationId xmlns:a16="http://schemas.microsoft.com/office/drawing/2014/main" id="{F2F6B7A7-EA37-482D-960D-1E369C94106F}"/>
              </a:ext>
            </a:extLst>
          </p:cNvPr>
          <p:cNvSpPr>
            <a:spLocks noGrp="1"/>
          </p:cNvSpPr>
          <p:nvPr>
            <p:ph type="sldNum" sz="quarter" idx="12"/>
          </p:nvPr>
        </p:nvSpPr>
        <p:spPr>
          <a:xfrm>
            <a:off x="11237434" y="6068292"/>
            <a:ext cx="803564" cy="789708"/>
          </a:xfrm>
        </p:spPr>
        <p:txBody>
          <a:bodyPr/>
          <a:lstStyle>
            <a:lvl1pPr>
              <a:defRPr sz="2800" b="1">
                <a:solidFill>
                  <a:schemeClr val="bg1"/>
                </a:solidFill>
                <a:latin typeface="+mj-lt"/>
              </a:defRPr>
            </a:lvl1pPr>
          </a:lstStyle>
          <a:p>
            <a:fld id="{2DD1AF16-C9BB-4ECC-8D85-F1550267F355}" type="slidenum">
              <a:rPr lang="es-GT" smtClean="0"/>
              <a:pPr/>
              <a:t>‹Nº›</a:t>
            </a:fld>
            <a:endParaRPr lang="es-GT" dirty="0"/>
          </a:p>
        </p:txBody>
      </p:sp>
    </p:spTree>
    <p:extLst>
      <p:ext uri="{BB962C8B-B14F-4D97-AF65-F5344CB8AC3E}">
        <p14:creationId xmlns:p14="http://schemas.microsoft.com/office/powerpoint/2010/main" val="2342485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En blanc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7F57FFB-539C-4AF2-A3DD-D33311FE831A}"/>
              </a:ext>
            </a:extLst>
          </p:cNvPr>
          <p:cNvSpPr>
            <a:spLocks noGrp="1"/>
          </p:cNvSpPr>
          <p:nvPr>
            <p:ph type="dt" sz="half" idx="10"/>
          </p:nvPr>
        </p:nvSpPr>
        <p:spPr/>
        <p:txBody>
          <a:bodyPr/>
          <a:lstStyle/>
          <a:p>
            <a:fld id="{078A8C78-1D52-410F-B82F-3D1612FB0D62}" type="datetime1">
              <a:rPr lang="es-GT" smtClean="0"/>
              <a:t>22/07/2026</a:t>
            </a:fld>
            <a:endParaRPr lang="es-GT" dirty="0"/>
          </a:p>
        </p:txBody>
      </p:sp>
      <p:sp>
        <p:nvSpPr>
          <p:cNvPr id="3" name="Marcador de pie de página 2">
            <a:extLst>
              <a:ext uri="{FF2B5EF4-FFF2-40B4-BE49-F238E27FC236}">
                <a16:creationId xmlns:a16="http://schemas.microsoft.com/office/drawing/2014/main" id="{3EFEC03E-CE25-485E-AEDA-3276D519789C}"/>
              </a:ext>
            </a:extLst>
          </p:cNvPr>
          <p:cNvSpPr>
            <a:spLocks noGrp="1"/>
          </p:cNvSpPr>
          <p:nvPr>
            <p:ph type="ftr" sz="quarter" idx="11"/>
          </p:nvPr>
        </p:nvSpPr>
        <p:spPr/>
        <p:txBody>
          <a:bodyPr/>
          <a:lstStyle/>
          <a:p>
            <a:endParaRPr lang="es-GT" dirty="0"/>
          </a:p>
        </p:txBody>
      </p:sp>
      <p:sp>
        <p:nvSpPr>
          <p:cNvPr id="5" name="Marcador de número de diapositiva 5">
            <a:extLst>
              <a:ext uri="{FF2B5EF4-FFF2-40B4-BE49-F238E27FC236}">
                <a16:creationId xmlns:a16="http://schemas.microsoft.com/office/drawing/2014/main" id="{34A354B5-693F-47AF-872D-99118E57365D}"/>
              </a:ext>
            </a:extLst>
          </p:cNvPr>
          <p:cNvSpPr>
            <a:spLocks noGrp="1"/>
          </p:cNvSpPr>
          <p:nvPr>
            <p:ph type="sldNum" sz="quarter" idx="12"/>
          </p:nvPr>
        </p:nvSpPr>
        <p:spPr>
          <a:xfrm>
            <a:off x="11237434" y="6068292"/>
            <a:ext cx="803564" cy="789708"/>
          </a:xfrm>
        </p:spPr>
        <p:txBody>
          <a:bodyPr/>
          <a:lstStyle>
            <a:lvl1pPr>
              <a:defRPr sz="2800" b="1">
                <a:solidFill>
                  <a:schemeClr val="bg1"/>
                </a:solidFill>
                <a:latin typeface="+mj-lt"/>
              </a:defRPr>
            </a:lvl1pPr>
          </a:lstStyle>
          <a:p>
            <a:fld id="{2DD1AF16-C9BB-4ECC-8D85-F1550267F355}" type="slidenum">
              <a:rPr lang="es-GT" smtClean="0"/>
              <a:pPr/>
              <a:t>‹Nº›</a:t>
            </a:fld>
            <a:endParaRPr lang="es-GT" dirty="0"/>
          </a:p>
        </p:txBody>
      </p:sp>
    </p:spTree>
    <p:extLst>
      <p:ext uri="{BB962C8B-B14F-4D97-AF65-F5344CB8AC3E}">
        <p14:creationId xmlns:p14="http://schemas.microsoft.com/office/powerpoint/2010/main" val="388641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ido con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3DB5AB-7308-4200-AFDE-29940A8118C2}"/>
              </a:ext>
            </a:extLst>
          </p:cNvPr>
          <p:cNvSpPr>
            <a:spLocks noGrp="1"/>
          </p:cNvSpPr>
          <p:nvPr>
            <p:ph type="title" hasCustomPrompt="1"/>
          </p:nvPr>
        </p:nvSpPr>
        <p:spPr>
          <a:xfrm>
            <a:off x="839788" y="457200"/>
            <a:ext cx="3932237" cy="1600200"/>
          </a:xfrm>
        </p:spPr>
        <p:txBody>
          <a:bodyPr anchor="b">
            <a:noAutofit/>
          </a:bodyPr>
          <a:lstStyle>
            <a:lvl1pPr>
              <a:defRPr sz="2400" b="1">
                <a:solidFill>
                  <a:srgbClr val="00457F"/>
                </a:solidFill>
              </a:defRPr>
            </a:lvl1pPr>
          </a:lstStyle>
          <a:p>
            <a:r>
              <a:rPr lang="es-ES" dirty="0"/>
              <a:t>HAGA CLIC PARA MODIFICAR EL ESTILO DE TÍTULO DEL PATRÓN</a:t>
            </a:r>
            <a:endParaRPr lang="es-GT" dirty="0"/>
          </a:p>
        </p:txBody>
      </p:sp>
      <p:sp>
        <p:nvSpPr>
          <p:cNvPr id="3" name="Marcador de contenido 2">
            <a:extLst>
              <a:ext uri="{FF2B5EF4-FFF2-40B4-BE49-F238E27FC236}">
                <a16:creationId xmlns:a16="http://schemas.microsoft.com/office/drawing/2014/main" id="{0CC89800-6011-4D28-BCAE-1AD7D59635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texto 3">
            <a:extLst>
              <a:ext uri="{FF2B5EF4-FFF2-40B4-BE49-F238E27FC236}">
                <a16:creationId xmlns:a16="http://schemas.microsoft.com/office/drawing/2014/main" id="{1DA45710-1BE2-4A84-8261-58C197C23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CA4A150-D102-4F6D-B195-A31A06311AB2}"/>
              </a:ext>
            </a:extLst>
          </p:cNvPr>
          <p:cNvSpPr>
            <a:spLocks noGrp="1"/>
          </p:cNvSpPr>
          <p:nvPr>
            <p:ph type="dt" sz="half" idx="10"/>
          </p:nvPr>
        </p:nvSpPr>
        <p:spPr/>
        <p:txBody>
          <a:bodyPr/>
          <a:lstStyle/>
          <a:p>
            <a:fld id="{A6325F3F-D87B-46B3-BEE9-6BE38B7CBA21}" type="datetime1">
              <a:rPr lang="es-GT" smtClean="0"/>
              <a:t>22/07/2026</a:t>
            </a:fld>
            <a:endParaRPr lang="es-GT" dirty="0"/>
          </a:p>
        </p:txBody>
      </p:sp>
      <p:sp>
        <p:nvSpPr>
          <p:cNvPr id="6" name="Marcador de pie de página 5">
            <a:extLst>
              <a:ext uri="{FF2B5EF4-FFF2-40B4-BE49-F238E27FC236}">
                <a16:creationId xmlns:a16="http://schemas.microsoft.com/office/drawing/2014/main" id="{4AB9C2B7-3220-4FCE-8FD3-FA955EBB67C7}"/>
              </a:ext>
            </a:extLst>
          </p:cNvPr>
          <p:cNvSpPr>
            <a:spLocks noGrp="1"/>
          </p:cNvSpPr>
          <p:nvPr>
            <p:ph type="ftr" sz="quarter" idx="11"/>
          </p:nvPr>
        </p:nvSpPr>
        <p:spPr/>
        <p:txBody>
          <a:bodyPr/>
          <a:lstStyle/>
          <a:p>
            <a:endParaRPr lang="es-GT" dirty="0"/>
          </a:p>
        </p:txBody>
      </p:sp>
      <p:sp>
        <p:nvSpPr>
          <p:cNvPr id="7" name="Marcador de número de diapositiva 6">
            <a:extLst>
              <a:ext uri="{FF2B5EF4-FFF2-40B4-BE49-F238E27FC236}">
                <a16:creationId xmlns:a16="http://schemas.microsoft.com/office/drawing/2014/main" id="{77ACCFC7-0481-4761-A6AB-66B282E1B42C}"/>
              </a:ext>
            </a:extLst>
          </p:cNvPr>
          <p:cNvSpPr>
            <a:spLocks noGrp="1"/>
          </p:cNvSpPr>
          <p:nvPr>
            <p:ph type="sldNum" sz="quarter" idx="12"/>
          </p:nvPr>
        </p:nvSpPr>
        <p:spPr/>
        <p:txBody>
          <a:bodyPr/>
          <a:lstStyle/>
          <a:p>
            <a:fld id="{2DD1AF16-C9BB-4ECC-8D85-F1550267F355}" type="slidenum">
              <a:rPr lang="es-GT" smtClean="0"/>
              <a:t>‹Nº›</a:t>
            </a:fld>
            <a:endParaRPr lang="es-GT" dirty="0"/>
          </a:p>
        </p:txBody>
      </p:sp>
    </p:spTree>
    <p:extLst>
      <p:ext uri="{BB962C8B-B14F-4D97-AF65-F5344CB8AC3E}">
        <p14:creationId xmlns:p14="http://schemas.microsoft.com/office/powerpoint/2010/main" val="3203153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5048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FDFF341-FBA4-439B-9D88-63293004D2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GT"/>
          </a:p>
        </p:txBody>
      </p:sp>
      <p:sp>
        <p:nvSpPr>
          <p:cNvPr id="3" name="Marcador de texto 2">
            <a:extLst>
              <a:ext uri="{FF2B5EF4-FFF2-40B4-BE49-F238E27FC236}">
                <a16:creationId xmlns:a16="http://schemas.microsoft.com/office/drawing/2014/main" id="{0E7D3518-95BB-4FF3-9705-B5F55A4CCA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fecha 3">
            <a:extLst>
              <a:ext uri="{FF2B5EF4-FFF2-40B4-BE49-F238E27FC236}">
                <a16:creationId xmlns:a16="http://schemas.microsoft.com/office/drawing/2014/main" id="{BECB49FC-7C40-451A-A77F-27388F45C1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2D7216-F8F5-42AB-9B39-4D0039E86A01}" type="datetime1">
              <a:rPr lang="es-GT" smtClean="0"/>
              <a:t>22/07/2026</a:t>
            </a:fld>
            <a:endParaRPr lang="es-GT" dirty="0"/>
          </a:p>
        </p:txBody>
      </p:sp>
      <p:sp>
        <p:nvSpPr>
          <p:cNvPr id="5" name="Marcador de pie de página 4">
            <a:extLst>
              <a:ext uri="{FF2B5EF4-FFF2-40B4-BE49-F238E27FC236}">
                <a16:creationId xmlns:a16="http://schemas.microsoft.com/office/drawing/2014/main" id="{DAFEB1C2-E896-4FB0-9D76-CFE8CB7F6C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GT" dirty="0"/>
          </a:p>
        </p:txBody>
      </p:sp>
      <p:sp>
        <p:nvSpPr>
          <p:cNvPr id="6" name="Marcador de número de diapositiva 5">
            <a:extLst>
              <a:ext uri="{FF2B5EF4-FFF2-40B4-BE49-F238E27FC236}">
                <a16:creationId xmlns:a16="http://schemas.microsoft.com/office/drawing/2014/main" id="{9075B224-72C0-4415-B94C-59DBDD4B1E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D1AF16-C9BB-4ECC-8D85-F1550267F355}" type="slidenum">
              <a:rPr lang="es-GT" smtClean="0"/>
              <a:t>‹Nº›</a:t>
            </a:fld>
            <a:endParaRPr lang="es-GT" dirty="0"/>
          </a:p>
        </p:txBody>
      </p:sp>
    </p:spTree>
    <p:extLst>
      <p:ext uri="{BB962C8B-B14F-4D97-AF65-F5344CB8AC3E}">
        <p14:creationId xmlns:p14="http://schemas.microsoft.com/office/powerpoint/2010/main" val="2007541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3.xml"/><Relationship Id="rId1" Type="http://schemas.openxmlformats.org/officeDocument/2006/relationships/slideLayout" Target="../slideLayouts/slideLayout5.xml"/><Relationship Id="rId4" Type="http://schemas.openxmlformats.org/officeDocument/2006/relationships/slide" Target="slide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14.svg"/><Relationship Id="rId4" Type="http://schemas.openxmlformats.org/officeDocument/2006/relationships/image" Target="../media/image8.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C0B60F34-1F7A-4EF3-8F6D-987DD6888173}"/>
              </a:ext>
            </a:extLst>
          </p:cNvPr>
          <p:cNvSpPr>
            <a:spLocks noGrp="1"/>
          </p:cNvSpPr>
          <p:nvPr>
            <p:ph type="ctrTitle"/>
          </p:nvPr>
        </p:nvSpPr>
        <p:spPr>
          <a:xfrm>
            <a:off x="4313381" y="1122363"/>
            <a:ext cx="6641605" cy="2387600"/>
          </a:xfrm>
        </p:spPr>
        <p:txBody>
          <a:bodyPr/>
          <a:lstStyle/>
          <a:p>
            <a:r>
              <a:rPr lang="es-ES" dirty="0"/>
              <a:t>Escenarios de pronóstico de crecimiento económico de largo plazo</a:t>
            </a:r>
            <a:endParaRPr lang="es-GT" dirty="0"/>
          </a:p>
        </p:txBody>
      </p:sp>
      <p:sp>
        <p:nvSpPr>
          <p:cNvPr id="5" name="Subtítulo 4">
            <a:extLst>
              <a:ext uri="{FF2B5EF4-FFF2-40B4-BE49-F238E27FC236}">
                <a16:creationId xmlns:a16="http://schemas.microsoft.com/office/drawing/2014/main" id="{ABFD3C15-762A-4D88-9B9E-0057B17D5ABA}"/>
              </a:ext>
            </a:extLst>
          </p:cNvPr>
          <p:cNvSpPr>
            <a:spLocks noGrp="1"/>
          </p:cNvSpPr>
          <p:nvPr>
            <p:ph type="subTitle" idx="1"/>
          </p:nvPr>
        </p:nvSpPr>
        <p:spPr/>
        <p:txBody>
          <a:bodyPr/>
          <a:lstStyle/>
          <a:p>
            <a:r>
              <a:rPr lang="es-ES" b="1" dirty="0">
                <a:solidFill>
                  <a:schemeClr val="bg1"/>
                </a:solidFill>
              </a:rPr>
              <a:t>Julio 2026</a:t>
            </a:r>
            <a:endParaRPr lang="es-GT" b="1" dirty="0">
              <a:solidFill>
                <a:schemeClr val="bg1"/>
              </a:solidFill>
            </a:endParaRPr>
          </a:p>
        </p:txBody>
      </p:sp>
    </p:spTree>
    <p:extLst>
      <p:ext uri="{BB962C8B-B14F-4D97-AF65-F5344CB8AC3E}">
        <p14:creationId xmlns:p14="http://schemas.microsoft.com/office/powerpoint/2010/main" val="1717726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808209D-AB7B-4FAB-AC66-04F63883F3A6}"/>
              </a:ext>
            </a:extLst>
          </p:cNvPr>
          <p:cNvSpPr>
            <a:spLocks noGrp="1"/>
          </p:cNvSpPr>
          <p:nvPr>
            <p:ph type="sldNum" sz="quarter" idx="12"/>
          </p:nvPr>
        </p:nvSpPr>
        <p:spPr/>
        <p:txBody>
          <a:bodyPr/>
          <a:lstStyle/>
          <a:p>
            <a:fld id="{2DD1AF16-C9BB-4ECC-8D85-F1550267F355}" type="slidenum">
              <a:rPr lang="es-GT" smtClean="0"/>
              <a:pPr/>
              <a:t>2</a:t>
            </a:fld>
            <a:endParaRPr lang="es-GT" dirty="0"/>
          </a:p>
        </p:txBody>
      </p:sp>
      <p:sp>
        <p:nvSpPr>
          <p:cNvPr id="6" name="Título 1">
            <a:extLst>
              <a:ext uri="{FF2B5EF4-FFF2-40B4-BE49-F238E27FC236}">
                <a16:creationId xmlns:a16="http://schemas.microsoft.com/office/drawing/2014/main" id="{1006FFC6-6066-4366-90F9-B522E692FE58}"/>
              </a:ext>
            </a:extLst>
          </p:cNvPr>
          <p:cNvSpPr txBox="1">
            <a:spLocks/>
          </p:cNvSpPr>
          <p:nvPr/>
        </p:nvSpPr>
        <p:spPr>
          <a:xfrm>
            <a:off x="1295400" y="523332"/>
            <a:ext cx="7118838" cy="6899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rgbClr val="00457F"/>
                </a:solidFill>
                <a:latin typeface="+mj-lt"/>
                <a:ea typeface="+mj-ea"/>
                <a:cs typeface="+mj-cs"/>
              </a:defRPr>
            </a:lvl1pPr>
          </a:lstStyle>
          <a:p>
            <a:r>
              <a:rPr lang="es-ES" sz="3200" dirty="0"/>
              <a:t>Contenido</a:t>
            </a:r>
            <a:endParaRPr lang="es-GT" sz="3200" dirty="0"/>
          </a:p>
        </p:txBody>
      </p:sp>
      <p:sp>
        <p:nvSpPr>
          <p:cNvPr id="7" name="Marcador de contenido 2">
            <a:extLst>
              <a:ext uri="{FF2B5EF4-FFF2-40B4-BE49-F238E27FC236}">
                <a16:creationId xmlns:a16="http://schemas.microsoft.com/office/drawing/2014/main" id="{866FC081-4502-4BD0-99C7-1A1E4C1A92D9}"/>
              </a:ext>
            </a:extLst>
          </p:cNvPr>
          <p:cNvSpPr txBox="1">
            <a:spLocks/>
          </p:cNvSpPr>
          <p:nvPr/>
        </p:nvSpPr>
        <p:spPr>
          <a:xfrm>
            <a:off x="1898876" y="1213284"/>
            <a:ext cx="8394248" cy="25131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200000"/>
              </a:lnSpc>
            </a:pPr>
            <a:r>
              <a:rPr lang="es-MX" sz="2400" b="1" dirty="0">
                <a:solidFill>
                  <a:srgbClr val="00457F"/>
                </a:solidFill>
                <a:hlinkClick r:id="rId2" action="ppaction://hlinksldjump">
                  <a:extLst>
                    <a:ext uri="{A12FA001-AC4F-418D-AE19-62706E023703}">
                      <ahyp:hlinkClr xmlns:ahyp="http://schemas.microsoft.com/office/drawing/2018/hyperlinkcolor" val="tx"/>
                    </a:ext>
                  </a:extLst>
                </a:hlinkClick>
              </a:rPr>
              <a:t>Introducción</a:t>
            </a:r>
            <a:r>
              <a:rPr lang="es-MX" sz="2400" b="1" dirty="0">
                <a:solidFill>
                  <a:srgbClr val="00457F"/>
                </a:solidFill>
              </a:rPr>
              <a:t> </a:t>
            </a:r>
            <a:r>
              <a:rPr lang="es-MX" sz="2400" dirty="0">
                <a:solidFill>
                  <a:srgbClr val="00457F"/>
                </a:solidFill>
              </a:rPr>
              <a:t>………………………………………………… 3</a:t>
            </a:r>
          </a:p>
          <a:p>
            <a:pPr algn="just">
              <a:lnSpc>
                <a:spcPct val="200000"/>
              </a:lnSpc>
            </a:pPr>
            <a:r>
              <a:rPr lang="es-MX" sz="2400" b="1" dirty="0">
                <a:solidFill>
                  <a:srgbClr val="00457F"/>
                </a:solidFill>
                <a:hlinkClick r:id="rId3" action="ppaction://hlinksldjump">
                  <a:extLst>
                    <a:ext uri="{A12FA001-AC4F-418D-AE19-62706E023703}">
                      <ahyp:hlinkClr xmlns:ahyp="http://schemas.microsoft.com/office/drawing/2018/hyperlinkcolor" val="tx"/>
                    </a:ext>
                  </a:extLst>
                </a:hlinkClick>
              </a:rPr>
              <a:t>Generalidades del modelo</a:t>
            </a:r>
            <a:r>
              <a:rPr lang="es-MX" sz="2400" b="1" dirty="0">
                <a:solidFill>
                  <a:srgbClr val="00457F"/>
                </a:solidFill>
              </a:rPr>
              <a:t> </a:t>
            </a:r>
            <a:r>
              <a:rPr lang="es-MX" sz="2400" dirty="0">
                <a:solidFill>
                  <a:srgbClr val="00457F"/>
                </a:solidFill>
              </a:rPr>
              <a:t>……………………......... 5</a:t>
            </a:r>
          </a:p>
          <a:p>
            <a:pPr algn="just">
              <a:lnSpc>
                <a:spcPct val="200000"/>
              </a:lnSpc>
            </a:pPr>
            <a:r>
              <a:rPr lang="es-MX" sz="2400" b="1" dirty="0">
                <a:solidFill>
                  <a:srgbClr val="00457F"/>
                </a:solidFill>
                <a:hlinkClick r:id="rId4" action="ppaction://hlinksldjump">
                  <a:extLst>
                    <a:ext uri="{A12FA001-AC4F-418D-AE19-62706E023703}">
                      <ahyp:hlinkClr xmlns:ahyp="http://schemas.microsoft.com/office/drawing/2018/hyperlinkcolor" val="tx"/>
                    </a:ext>
                  </a:extLst>
                </a:hlinkClick>
              </a:rPr>
              <a:t>Pronósticos</a:t>
            </a:r>
            <a:r>
              <a:rPr lang="es-MX" sz="2400" b="1" dirty="0">
                <a:solidFill>
                  <a:srgbClr val="00457F"/>
                </a:solidFill>
              </a:rPr>
              <a:t> </a:t>
            </a:r>
            <a:r>
              <a:rPr lang="es-MX" sz="2400" dirty="0">
                <a:solidFill>
                  <a:srgbClr val="00457F"/>
                </a:solidFill>
              </a:rPr>
              <a:t>…………………………………………………. 11</a:t>
            </a:r>
          </a:p>
        </p:txBody>
      </p:sp>
    </p:spTree>
    <p:extLst>
      <p:ext uri="{BB962C8B-B14F-4D97-AF65-F5344CB8AC3E}">
        <p14:creationId xmlns:p14="http://schemas.microsoft.com/office/powerpoint/2010/main" val="1492036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4DFFE-3857-4910-150E-DA1D6CA727BA}"/>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67AF737D-A3A0-4B4E-E3BF-6C4549D3CA46}"/>
              </a:ext>
            </a:extLst>
          </p:cNvPr>
          <p:cNvSpPr>
            <a:spLocks noGrp="1"/>
          </p:cNvSpPr>
          <p:nvPr>
            <p:ph type="title"/>
          </p:nvPr>
        </p:nvSpPr>
        <p:spPr/>
        <p:txBody>
          <a:bodyPr/>
          <a:lstStyle/>
          <a:p>
            <a:r>
              <a:rPr lang="es-ES" dirty="0"/>
              <a:t>Introducción</a:t>
            </a:r>
            <a:endParaRPr lang="es-GT" dirty="0"/>
          </a:p>
        </p:txBody>
      </p:sp>
      <p:sp>
        <p:nvSpPr>
          <p:cNvPr id="4" name="Marcador de número de diapositiva 3">
            <a:extLst>
              <a:ext uri="{FF2B5EF4-FFF2-40B4-BE49-F238E27FC236}">
                <a16:creationId xmlns:a16="http://schemas.microsoft.com/office/drawing/2014/main" id="{3AC40789-44FD-DDD9-F4E8-82D055F1588B}"/>
              </a:ext>
            </a:extLst>
          </p:cNvPr>
          <p:cNvSpPr>
            <a:spLocks noGrp="1"/>
          </p:cNvSpPr>
          <p:nvPr>
            <p:ph type="sldNum" sz="quarter" idx="4294967295"/>
          </p:nvPr>
        </p:nvSpPr>
        <p:spPr>
          <a:xfrm>
            <a:off x="11353800" y="6086475"/>
            <a:ext cx="838200" cy="771525"/>
          </a:xfrm>
        </p:spPr>
        <p:txBody>
          <a:bodyPr/>
          <a:lstStyle/>
          <a:p>
            <a:fld id="{2DD1AF16-C9BB-4ECC-8D85-F1550267F355}" type="slidenum">
              <a:rPr lang="es-GT" smtClean="0"/>
              <a:pPr/>
              <a:t>3</a:t>
            </a:fld>
            <a:endParaRPr lang="es-GT" dirty="0"/>
          </a:p>
        </p:txBody>
      </p:sp>
      <p:sp>
        <p:nvSpPr>
          <p:cNvPr id="3" name="Marcador de texto 2">
            <a:extLst>
              <a:ext uri="{FF2B5EF4-FFF2-40B4-BE49-F238E27FC236}">
                <a16:creationId xmlns:a16="http://schemas.microsoft.com/office/drawing/2014/main" id="{3C4E662D-8FEC-222C-CA63-D91772E64285}"/>
              </a:ext>
            </a:extLst>
          </p:cNvPr>
          <p:cNvSpPr>
            <a:spLocks noGrp="1"/>
          </p:cNvSpPr>
          <p:nvPr>
            <p:ph type="body" idx="1"/>
          </p:nvPr>
        </p:nvSpPr>
        <p:spPr/>
        <p:txBody>
          <a:bodyPr/>
          <a:lstStyle/>
          <a:p>
            <a:endParaRPr lang="es-MX"/>
          </a:p>
        </p:txBody>
      </p:sp>
    </p:spTree>
    <p:extLst>
      <p:ext uri="{BB962C8B-B14F-4D97-AF65-F5344CB8AC3E}">
        <p14:creationId xmlns:p14="http://schemas.microsoft.com/office/powerpoint/2010/main" val="3245552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D4C3F3-0A0D-4459-883A-3C8C4F5B26B3}"/>
              </a:ext>
            </a:extLst>
          </p:cNvPr>
          <p:cNvSpPr>
            <a:spLocks noGrp="1"/>
          </p:cNvSpPr>
          <p:nvPr>
            <p:ph type="title"/>
          </p:nvPr>
        </p:nvSpPr>
        <p:spPr>
          <a:xfrm>
            <a:off x="1295400" y="74980"/>
            <a:ext cx="7118838" cy="689952"/>
          </a:xfrm>
        </p:spPr>
        <p:txBody>
          <a:bodyPr/>
          <a:lstStyle/>
          <a:p>
            <a:r>
              <a:rPr lang="es-ES" dirty="0"/>
              <a:t>Introducción</a:t>
            </a:r>
            <a:endParaRPr lang="es-GT" dirty="0"/>
          </a:p>
        </p:txBody>
      </p:sp>
      <p:sp>
        <p:nvSpPr>
          <p:cNvPr id="3" name="Marcador de contenido 2">
            <a:extLst>
              <a:ext uri="{FF2B5EF4-FFF2-40B4-BE49-F238E27FC236}">
                <a16:creationId xmlns:a16="http://schemas.microsoft.com/office/drawing/2014/main" id="{5273B6D0-A7E1-43F8-8BEB-374236F7864F}"/>
              </a:ext>
            </a:extLst>
          </p:cNvPr>
          <p:cNvSpPr>
            <a:spLocks noGrp="1"/>
          </p:cNvSpPr>
          <p:nvPr>
            <p:ph idx="1"/>
          </p:nvPr>
        </p:nvSpPr>
        <p:spPr>
          <a:xfrm>
            <a:off x="759070" y="972771"/>
            <a:ext cx="10515600" cy="766359"/>
          </a:xfrm>
        </p:spPr>
        <p:txBody>
          <a:bodyPr>
            <a:normAutofit/>
          </a:bodyPr>
          <a:lstStyle/>
          <a:p>
            <a:pPr marL="0" indent="0" algn="just">
              <a:buNone/>
            </a:pPr>
            <a:r>
              <a:rPr lang="es-MX" sz="1600" dirty="0"/>
              <a:t>A continuación se presentan los principales detalles y resultados de los escenarios de pronóstico de largo plazo para el crecimiento económico de Guatemala, contemplados en el documento titulado “Acuerdo Político para el Desarrollo Productivo, Inclusivo y Sostenible de Guatemala 2026-2056”.</a:t>
            </a:r>
            <a:endParaRPr lang="es-GT" sz="1600" dirty="0"/>
          </a:p>
        </p:txBody>
      </p:sp>
      <p:sp>
        <p:nvSpPr>
          <p:cNvPr id="4" name="Marcador de número de diapositiva 3">
            <a:extLst>
              <a:ext uri="{FF2B5EF4-FFF2-40B4-BE49-F238E27FC236}">
                <a16:creationId xmlns:a16="http://schemas.microsoft.com/office/drawing/2014/main" id="{1B438578-2A14-4107-8808-96259A6AB228}"/>
              </a:ext>
            </a:extLst>
          </p:cNvPr>
          <p:cNvSpPr>
            <a:spLocks noGrp="1"/>
          </p:cNvSpPr>
          <p:nvPr>
            <p:ph type="sldNum" sz="quarter" idx="12"/>
          </p:nvPr>
        </p:nvSpPr>
        <p:spPr/>
        <p:txBody>
          <a:bodyPr/>
          <a:lstStyle/>
          <a:p>
            <a:fld id="{2DD1AF16-C9BB-4ECC-8D85-F1550267F355}" type="slidenum">
              <a:rPr lang="es-GT" smtClean="0"/>
              <a:pPr/>
              <a:t>4</a:t>
            </a:fld>
            <a:endParaRPr lang="es-GT" dirty="0"/>
          </a:p>
        </p:txBody>
      </p:sp>
      <p:sp>
        <p:nvSpPr>
          <p:cNvPr id="8" name="Rectángulo: esquinas redondeadas 7">
            <a:extLst>
              <a:ext uri="{FF2B5EF4-FFF2-40B4-BE49-F238E27FC236}">
                <a16:creationId xmlns:a16="http://schemas.microsoft.com/office/drawing/2014/main" id="{222204D1-0644-CEF6-8827-7C1867E7A92A}"/>
              </a:ext>
            </a:extLst>
          </p:cNvPr>
          <p:cNvSpPr/>
          <p:nvPr/>
        </p:nvSpPr>
        <p:spPr>
          <a:xfrm>
            <a:off x="4020785" y="4011885"/>
            <a:ext cx="2226623" cy="391886"/>
          </a:xfrm>
          <a:prstGeom prst="roundRect">
            <a:avLst/>
          </a:prstGeom>
          <a:solidFill>
            <a:srgbClr val="FFFFFF"/>
          </a:solidFill>
          <a:ln>
            <a:solidFill>
              <a:srgbClr val="0045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600" dirty="0">
                <a:solidFill>
                  <a:schemeClr val="tx1"/>
                </a:solidFill>
              </a:rPr>
              <a:t>Escenario base</a:t>
            </a:r>
          </a:p>
        </p:txBody>
      </p:sp>
      <p:sp>
        <p:nvSpPr>
          <p:cNvPr id="10" name="Rectángulo: esquinas redondeadas 9">
            <a:extLst>
              <a:ext uri="{FF2B5EF4-FFF2-40B4-BE49-F238E27FC236}">
                <a16:creationId xmlns:a16="http://schemas.microsoft.com/office/drawing/2014/main" id="{3ADF4001-0B94-B78B-5DC6-8F77B3FB800C}"/>
              </a:ext>
            </a:extLst>
          </p:cNvPr>
          <p:cNvSpPr/>
          <p:nvPr/>
        </p:nvSpPr>
        <p:spPr>
          <a:xfrm>
            <a:off x="4020787" y="3350730"/>
            <a:ext cx="2226623" cy="391886"/>
          </a:xfrm>
          <a:prstGeom prst="roundRect">
            <a:avLst/>
          </a:prstGeom>
          <a:solidFill>
            <a:srgbClr val="FFFFFF"/>
          </a:solidFill>
          <a:ln>
            <a:solidFill>
              <a:srgbClr val="0045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600" dirty="0">
                <a:solidFill>
                  <a:schemeClr val="tx1"/>
                </a:solidFill>
              </a:rPr>
              <a:t>Escenario moderado</a:t>
            </a:r>
          </a:p>
        </p:txBody>
      </p:sp>
      <p:sp>
        <p:nvSpPr>
          <p:cNvPr id="12" name="Rectángulo: esquinas redondeadas 11">
            <a:extLst>
              <a:ext uri="{FF2B5EF4-FFF2-40B4-BE49-F238E27FC236}">
                <a16:creationId xmlns:a16="http://schemas.microsoft.com/office/drawing/2014/main" id="{3FAE6644-7C64-8728-C004-0009D976B195}"/>
              </a:ext>
            </a:extLst>
          </p:cNvPr>
          <p:cNvSpPr/>
          <p:nvPr/>
        </p:nvSpPr>
        <p:spPr>
          <a:xfrm>
            <a:off x="4020784" y="2694012"/>
            <a:ext cx="2226623" cy="391886"/>
          </a:xfrm>
          <a:prstGeom prst="roundRect">
            <a:avLst/>
          </a:prstGeom>
          <a:solidFill>
            <a:srgbClr val="FFFFFF"/>
          </a:solidFill>
          <a:ln>
            <a:solidFill>
              <a:srgbClr val="0045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600" dirty="0">
                <a:solidFill>
                  <a:schemeClr val="tx1"/>
                </a:solidFill>
              </a:rPr>
              <a:t>Escenario optimista</a:t>
            </a:r>
          </a:p>
        </p:txBody>
      </p:sp>
      <p:cxnSp>
        <p:nvCxnSpPr>
          <p:cNvPr id="19" name="Conector recto de flecha 18">
            <a:extLst>
              <a:ext uri="{FF2B5EF4-FFF2-40B4-BE49-F238E27FC236}">
                <a16:creationId xmlns:a16="http://schemas.microsoft.com/office/drawing/2014/main" id="{1825EC39-0D9F-57D8-B4AC-7DA2222A463E}"/>
              </a:ext>
            </a:extLst>
          </p:cNvPr>
          <p:cNvCxnSpPr>
            <a:stCxn id="8" idx="3"/>
          </p:cNvCxnSpPr>
          <p:nvPr/>
        </p:nvCxnSpPr>
        <p:spPr>
          <a:xfrm flipV="1">
            <a:off x="6247408" y="4203391"/>
            <a:ext cx="669967" cy="4437"/>
          </a:xfrm>
          <a:prstGeom prst="straightConnector1">
            <a:avLst/>
          </a:prstGeom>
          <a:ln>
            <a:solidFill>
              <a:srgbClr val="00457F"/>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58BA56B2-734F-2C95-A816-DD33074594A4}"/>
              </a:ext>
            </a:extLst>
          </p:cNvPr>
          <p:cNvCxnSpPr/>
          <p:nvPr/>
        </p:nvCxnSpPr>
        <p:spPr>
          <a:xfrm flipV="1">
            <a:off x="6247408" y="3540017"/>
            <a:ext cx="669967" cy="4437"/>
          </a:xfrm>
          <a:prstGeom prst="straightConnector1">
            <a:avLst/>
          </a:prstGeom>
          <a:ln>
            <a:solidFill>
              <a:srgbClr val="00457F"/>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E35258D8-7593-9E25-84A4-19F48F9EC6EB}"/>
              </a:ext>
            </a:extLst>
          </p:cNvPr>
          <p:cNvCxnSpPr/>
          <p:nvPr/>
        </p:nvCxnSpPr>
        <p:spPr>
          <a:xfrm flipV="1">
            <a:off x="6247406" y="2874628"/>
            <a:ext cx="669967" cy="4437"/>
          </a:xfrm>
          <a:prstGeom prst="straightConnector1">
            <a:avLst/>
          </a:prstGeom>
          <a:ln>
            <a:solidFill>
              <a:srgbClr val="00457F"/>
            </a:solidFill>
            <a:tailEnd type="triangle"/>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4BA407BE-1BC3-7190-F030-F73264EB4CCD}"/>
              </a:ext>
            </a:extLst>
          </p:cNvPr>
          <p:cNvSpPr txBox="1"/>
          <p:nvPr/>
        </p:nvSpPr>
        <p:spPr>
          <a:xfrm>
            <a:off x="6970816" y="4020465"/>
            <a:ext cx="570017" cy="338554"/>
          </a:xfrm>
          <a:prstGeom prst="rect">
            <a:avLst/>
          </a:prstGeom>
          <a:noFill/>
        </p:spPr>
        <p:txBody>
          <a:bodyPr wrap="square" rtlCol="0">
            <a:spAutoFit/>
          </a:bodyPr>
          <a:lstStyle/>
          <a:p>
            <a:r>
              <a:rPr lang="es-MX" sz="1600" dirty="0"/>
              <a:t>3.8</a:t>
            </a:r>
          </a:p>
        </p:txBody>
      </p:sp>
      <p:sp>
        <p:nvSpPr>
          <p:cNvPr id="24" name="CuadroTexto 23">
            <a:extLst>
              <a:ext uri="{FF2B5EF4-FFF2-40B4-BE49-F238E27FC236}">
                <a16:creationId xmlns:a16="http://schemas.microsoft.com/office/drawing/2014/main" id="{574C247E-52A0-E528-4E43-9A6151A633B0}"/>
              </a:ext>
            </a:extLst>
          </p:cNvPr>
          <p:cNvSpPr txBox="1"/>
          <p:nvPr/>
        </p:nvSpPr>
        <p:spPr>
          <a:xfrm>
            <a:off x="6970817" y="3360658"/>
            <a:ext cx="570017" cy="338554"/>
          </a:xfrm>
          <a:prstGeom prst="rect">
            <a:avLst/>
          </a:prstGeom>
          <a:noFill/>
        </p:spPr>
        <p:txBody>
          <a:bodyPr wrap="square" rtlCol="0">
            <a:spAutoFit/>
          </a:bodyPr>
          <a:lstStyle/>
          <a:p>
            <a:r>
              <a:rPr lang="es-MX" sz="1600" dirty="0"/>
              <a:t>4.5</a:t>
            </a:r>
          </a:p>
        </p:txBody>
      </p:sp>
      <p:sp>
        <p:nvSpPr>
          <p:cNvPr id="26" name="CuadroTexto 25">
            <a:extLst>
              <a:ext uri="{FF2B5EF4-FFF2-40B4-BE49-F238E27FC236}">
                <a16:creationId xmlns:a16="http://schemas.microsoft.com/office/drawing/2014/main" id="{31F78E2B-DBA8-D5AE-E30A-B987C2195123}"/>
              </a:ext>
            </a:extLst>
          </p:cNvPr>
          <p:cNvSpPr txBox="1"/>
          <p:nvPr/>
        </p:nvSpPr>
        <p:spPr>
          <a:xfrm>
            <a:off x="6970815" y="2705288"/>
            <a:ext cx="570018" cy="338554"/>
          </a:xfrm>
          <a:prstGeom prst="rect">
            <a:avLst/>
          </a:prstGeom>
          <a:noFill/>
        </p:spPr>
        <p:txBody>
          <a:bodyPr wrap="square" rtlCol="0">
            <a:spAutoFit/>
          </a:bodyPr>
          <a:lstStyle/>
          <a:p>
            <a:r>
              <a:rPr lang="es-MX" sz="1600" dirty="0"/>
              <a:t>6.0</a:t>
            </a:r>
          </a:p>
        </p:txBody>
      </p:sp>
      <p:sp>
        <p:nvSpPr>
          <p:cNvPr id="30" name="CuadroTexto 29">
            <a:extLst>
              <a:ext uri="{FF2B5EF4-FFF2-40B4-BE49-F238E27FC236}">
                <a16:creationId xmlns:a16="http://schemas.microsoft.com/office/drawing/2014/main" id="{00CE925A-A491-A3F0-C076-89A97EF41601}"/>
              </a:ext>
            </a:extLst>
          </p:cNvPr>
          <p:cNvSpPr txBox="1"/>
          <p:nvPr/>
        </p:nvSpPr>
        <p:spPr>
          <a:xfrm>
            <a:off x="4613565" y="1946969"/>
            <a:ext cx="2572948" cy="584775"/>
          </a:xfrm>
          <a:prstGeom prst="rect">
            <a:avLst/>
          </a:prstGeom>
          <a:noFill/>
        </p:spPr>
        <p:txBody>
          <a:bodyPr wrap="square" rtlCol="0">
            <a:spAutoFit/>
          </a:bodyPr>
          <a:lstStyle/>
          <a:p>
            <a:pPr algn="ctr"/>
            <a:r>
              <a:rPr lang="es-MX" sz="1600" b="1" dirty="0">
                <a:solidFill>
                  <a:srgbClr val="00457F"/>
                </a:solidFill>
              </a:rPr>
              <a:t>Crecimiento económico de largo plazo (%)</a:t>
            </a:r>
          </a:p>
        </p:txBody>
      </p:sp>
      <p:sp>
        <p:nvSpPr>
          <p:cNvPr id="32" name="Marcador de contenido 2">
            <a:extLst>
              <a:ext uri="{FF2B5EF4-FFF2-40B4-BE49-F238E27FC236}">
                <a16:creationId xmlns:a16="http://schemas.microsoft.com/office/drawing/2014/main" id="{268312E2-ECDA-CA59-7A26-A66A4FDCC660}"/>
              </a:ext>
            </a:extLst>
          </p:cNvPr>
          <p:cNvSpPr txBox="1">
            <a:spLocks/>
          </p:cNvSpPr>
          <p:nvPr/>
        </p:nvSpPr>
        <p:spPr>
          <a:xfrm>
            <a:off x="759070" y="4849030"/>
            <a:ext cx="10515600" cy="7663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s-MX" sz="1600" dirty="0"/>
              <a:t>Para la generación de los escenarios se construyó un modelo macroeconómico, cuyas principales características se detallan a continuación.</a:t>
            </a:r>
            <a:endParaRPr lang="es-GT" sz="1600" dirty="0"/>
          </a:p>
        </p:txBody>
      </p:sp>
    </p:spTree>
    <p:extLst>
      <p:ext uri="{BB962C8B-B14F-4D97-AF65-F5344CB8AC3E}">
        <p14:creationId xmlns:p14="http://schemas.microsoft.com/office/powerpoint/2010/main" val="3711015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8D02E5CC-4624-4D71-819B-22C869608E43}"/>
              </a:ext>
            </a:extLst>
          </p:cNvPr>
          <p:cNvSpPr>
            <a:spLocks noGrp="1"/>
          </p:cNvSpPr>
          <p:nvPr>
            <p:ph type="title"/>
          </p:nvPr>
        </p:nvSpPr>
        <p:spPr/>
        <p:txBody>
          <a:bodyPr/>
          <a:lstStyle/>
          <a:p>
            <a:r>
              <a:rPr lang="es-ES" dirty="0"/>
              <a:t>Modelo para Proyecciones Macroeconómicas (MPM)</a:t>
            </a:r>
            <a:endParaRPr lang="es-GT" dirty="0"/>
          </a:p>
        </p:txBody>
      </p:sp>
      <p:sp>
        <p:nvSpPr>
          <p:cNvPr id="6" name="Marcador de texto 5">
            <a:extLst>
              <a:ext uri="{FF2B5EF4-FFF2-40B4-BE49-F238E27FC236}">
                <a16:creationId xmlns:a16="http://schemas.microsoft.com/office/drawing/2014/main" id="{0BED8BDE-A7B5-416B-B6BB-EEDE10B757D3}"/>
              </a:ext>
            </a:extLst>
          </p:cNvPr>
          <p:cNvSpPr>
            <a:spLocks noGrp="1"/>
          </p:cNvSpPr>
          <p:nvPr>
            <p:ph type="body" idx="1"/>
          </p:nvPr>
        </p:nvSpPr>
        <p:spPr/>
        <p:txBody>
          <a:bodyPr/>
          <a:lstStyle/>
          <a:p>
            <a:r>
              <a:rPr lang="es-ES" dirty="0">
                <a:solidFill>
                  <a:schemeClr val="bg2">
                    <a:lumMod val="90000"/>
                  </a:schemeClr>
                </a:solidFill>
              </a:rPr>
              <a:t>Aspectos generales del modelo y supuestos principales</a:t>
            </a:r>
            <a:endParaRPr lang="es-GT" dirty="0">
              <a:solidFill>
                <a:schemeClr val="bg2">
                  <a:lumMod val="90000"/>
                </a:schemeClr>
              </a:solidFill>
            </a:endParaRPr>
          </a:p>
        </p:txBody>
      </p:sp>
      <p:sp>
        <p:nvSpPr>
          <p:cNvPr id="4" name="Marcador de número de diapositiva 3">
            <a:extLst>
              <a:ext uri="{FF2B5EF4-FFF2-40B4-BE49-F238E27FC236}">
                <a16:creationId xmlns:a16="http://schemas.microsoft.com/office/drawing/2014/main" id="{CF6AF598-E672-4939-B45C-4CBD9BB0FF41}"/>
              </a:ext>
            </a:extLst>
          </p:cNvPr>
          <p:cNvSpPr>
            <a:spLocks noGrp="1"/>
          </p:cNvSpPr>
          <p:nvPr>
            <p:ph type="sldNum" sz="quarter" idx="4294967295"/>
          </p:nvPr>
        </p:nvSpPr>
        <p:spPr>
          <a:xfrm>
            <a:off x="11353800" y="6086475"/>
            <a:ext cx="838200" cy="771525"/>
          </a:xfrm>
        </p:spPr>
        <p:txBody>
          <a:bodyPr/>
          <a:lstStyle/>
          <a:p>
            <a:fld id="{2DD1AF16-C9BB-4ECC-8D85-F1550267F355}" type="slidenum">
              <a:rPr lang="es-GT" smtClean="0"/>
              <a:pPr/>
              <a:t>5</a:t>
            </a:fld>
            <a:endParaRPr lang="es-GT" dirty="0"/>
          </a:p>
        </p:txBody>
      </p:sp>
    </p:spTree>
    <p:extLst>
      <p:ext uri="{BB962C8B-B14F-4D97-AF65-F5344CB8AC3E}">
        <p14:creationId xmlns:p14="http://schemas.microsoft.com/office/powerpoint/2010/main" val="3622384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A6088-27BB-E693-88C3-5B7BDC7B829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054D31-73B9-993C-BCE2-6C981803BA49}"/>
              </a:ext>
            </a:extLst>
          </p:cNvPr>
          <p:cNvSpPr>
            <a:spLocks noGrp="1"/>
          </p:cNvSpPr>
          <p:nvPr>
            <p:ph type="title"/>
          </p:nvPr>
        </p:nvSpPr>
        <p:spPr>
          <a:xfrm>
            <a:off x="1295400" y="74980"/>
            <a:ext cx="7118838" cy="689952"/>
          </a:xfrm>
        </p:spPr>
        <p:txBody>
          <a:bodyPr/>
          <a:lstStyle/>
          <a:p>
            <a:r>
              <a:rPr lang="es-ES" dirty="0"/>
              <a:t>Modelo para Proyecciones Macroeconómicas</a:t>
            </a:r>
            <a:endParaRPr lang="es-GT" dirty="0"/>
          </a:p>
        </p:txBody>
      </p:sp>
      <p:sp>
        <p:nvSpPr>
          <p:cNvPr id="3" name="Marcador de contenido 2">
            <a:extLst>
              <a:ext uri="{FF2B5EF4-FFF2-40B4-BE49-F238E27FC236}">
                <a16:creationId xmlns:a16="http://schemas.microsoft.com/office/drawing/2014/main" id="{F8ABAB49-F416-C01C-2FC1-D0817E7709E7}"/>
              </a:ext>
            </a:extLst>
          </p:cNvPr>
          <p:cNvSpPr>
            <a:spLocks noGrp="1"/>
          </p:cNvSpPr>
          <p:nvPr>
            <p:ph idx="1"/>
          </p:nvPr>
        </p:nvSpPr>
        <p:spPr>
          <a:xfrm>
            <a:off x="759070" y="972771"/>
            <a:ext cx="10515600" cy="4351338"/>
          </a:xfrm>
        </p:spPr>
        <p:txBody>
          <a:bodyPr>
            <a:normAutofit/>
          </a:bodyPr>
          <a:lstStyle/>
          <a:p>
            <a:pPr marL="0" indent="0" algn="just">
              <a:buNone/>
            </a:pPr>
            <a:r>
              <a:rPr lang="es-ES" sz="1600" dirty="0"/>
              <a:t>La estructura del modelo se divide en </a:t>
            </a:r>
            <a:r>
              <a:rPr lang="es-ES" sz="1600" b="1" dirty="0"/>
              <a:t>variables exógenas (externas e internas) y variables endógenas</a:t>
            </a:r>
            <a:r>
              <a:rPr lang="es-ES" sz="1600" dirty="0"/>
              <a:t>, estas últimas clasificadas en distintos sectores con el propósito de modelar las interacciones entre las políticas monetaria y fiscal.</a:t>
            </a:r>
          </a:p>
          <a:p>
            <a:pPr marL="0" lvl="1" indent="0" algn="just">
              <a:buNone/>
            </a:pPr>
            <a:endParaRPr lang="es-GT" sz="1600" dirty="0"/>
          </a:p>
        </p:txBody>
      </p:sp>
      <p:sp>
        <p:nvSpPr>
          <p:cNvPr id="4" name="Marcador de número de diapositiva 3">
            <a:extLst>
              <a:ext uri="{FF2B5EF4-FFF2-40B4-BE49-F238E27FC236}">
                <a16:creationId xmlns:a16="http://schemas.microsoft.com/office/drawing/2014/main" id="{B9FE8FB3-5499-EE32-14D3-58918ECBE651}"/>
              </a:ext>
            </a:extLst>
          </p:cNvPr>
          <p:cNvSpPr>
            <a:spLocks noGrp="1"/>
          </p:cNvSpPr>
          <p:nvPr>
            <p:ph type="sldNum" sz="quarter" idx="12"/>
          </p:nvPr>
        </p:nvSpPr>
        <p:spPr/>
        <p:txBody>
          <a:bodyPr/>
          <a:lstStyle/>
          <a:p>
            <a:fld id="{2DD1AF16-C9BB-4ECC-8D85-F1550267F355}" type="slidenum">
              <a:rPr lang="es-GT" smtClean="0"/>
              <a:pPr/>
              <a:t>6</a:t>
            </a:fld>
            <a:endParaRPr lang="es-GT" dirty="0"/>
          </a:p>
        </p:txBody>
      </p:sp>
      <p:sp>
        <p:nvSpPr>
          <p:cNvPr id="29" name="Marcador de contenido 2">
            <a:extLst>
              <a:ext uri="{FF2B5EF4-FFF2-40B4-BE49-F238E27FC236}">
                <a16:creationId xmlns:a16="http://schemas.microsoft.com/office/drawing/2014/main" id="{0897D2E1-A4E2-E541-F9BE-5B4EBE732562}"/>
              </a:ext>
            </a:extLst>
          </p:cNvPr>
          <p:cNvSpPr txBox="1">
            <a:spLocks/>
          </p:cNvSpPr>
          <p:nvPr/>
        </p:nvSpPr>
        <p:spPr>
          <a:xfrm>
            <a:off x="4755415" y="2300697"/>
            <a:ext cx="6153897" cy="21648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MX" sz="1600" dirty="0"/>
              <a:t>El núcleo del modelo está constituido por 17 variables, construidas como desviaciones respecto de sus promedios móviles de cuatro trimestres.</a:t>
            </a:r>
          </a:p>
          <a:p>
            <a:pPr marL="0" indent="0" algn="just">
              <a:buNone/>
            </a:pPr>
            <a:r>
              <a:rPr lang="es-MX" sz="1600" dirty="0"/>
              <a:t>Debido a esta transformación, las variables representadas en sus niveles originales </a:t>
            </a:r>
            <a:r>
              <a:rPr lang="es-MX" sz="1600" b="1" dirty="0"/>
              <a:t>no convergen necesariamente hacia un estado estacionario fijo</a:t>
            </a:r>
            <a:r>
              <a:rPr lang="es-MX" sz="1600" dirty="0"/>
              <a:t>. </a:t>
            </a:r>
          </a:p>
        </p:txBody>
      </p:sp>
      <p:grpSp>
        <p:nvGrpSpPr>
          <p:cNvPr id="9" name="Grupo 8">
            <a:extLst>
              <a:ext uri="{FF2B5EF4-FFF2-40B4-BE49-F238E27FC236}">
                <a16:creationId xmlns:a16="http://schemas.microsoft.com/office/drawing/2014/main" id="{6F4C294E-BE24-479C-B665-25515A14D5E9}"/>
              </a:ext>
            </a:extLst>
          </p:cNvPr>
          <p:cNvGrpSpPr/>
          <p:nvPr/>
        </p:nvGrpSpPr>
        <p:grpSpPr>
          <a:xfrm>
            <a:off x="1041784" y="1931758"/>
            <a:ext cx="3050214" cy="3074745"/>
            <a:chOff x="1041784" y="1931758"/>
            <a:chExt cx="3050214" cy="3074745"/>
          </a:xfrm>
        </p:grpSpPr>
        <p:sp>
          <p:nvSpPr>
            <p:cNvPr id="5" name="Rectángulo: esquinas redondeadas 4">
              <a:extLst>
                <a:ext uri="{FF2B5EF4-FFF2-40B4-BE49-F238E27FC236}">
                  <a16:creationId xmlns:a16="http://schemas.microsoft.com/office/drawing/2014/main" id="{F6545FEA-A9BD-14B0-0651-25EE552EC379}"/>
                </a:ext>
              </a:extLst>
            </p:cNvPr>
            <p:cNvSpPr/>
            <p:nvPr/>
          </p:nvSpPr>
          <p:spPr>
            <a:xfrm>
              <a:off x="1041784" y="3272897"/>
              <a:ext cx="1062406" cy="422030"/>
            </a:xfrm>
            <a:prstGeom prst="roundRect">
              <a:avLst/>
            </a:prstGeom>
            <a:noFill/>
            <a:ln w="28575">
              <a:solidFill>
                <a:srgbClr val="0045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rgbClr val="00457F"/>
                  </a:solidFill>
                </a:rPr>
                <a:t>Sectores</a:t>
              </a:r>
              <a:endParaRPr lang="es-GT" sz="1400" b="1" dirty="0">
                <a:solidFill>
                  <a:srgbClr val="00457F"/>
                </a:solidFill>
              </a:endParaRPr>
            </a:p>
          </p:txBody>
        </p:sp>
        <p:cxnSp>
          <p:nvCxnSpPr>
            <p:cNvPr id="7" name="Conector recto 6">
              <a:extLst>
                <a:ext uri="{FF2B5EF4-FFF2-40B4-BE49-F238E27FC236}">
                  <a16:creationId xmlns:a16="http://schemas.microsoft.com/office/drawing/2014/main" id="{0AFDF709-9077-5561-CD9B-1D64FAFE24A1}"/>
                </a:ext>
              </a:extLst>
            </p:cNvPr>
            <p:cNvCxnSpPr>
              <a:cxnSpLocks/>
            </p:cNvCxnSpPr>
            <p:nvPr/>
          </p:nvCxnSpPr>
          <p:spPr>
            <a:xfrm>
              <a:off x="2119065" y="3466327"/>
              <a:ext cx="230065" cy="0"/>
            </a:xfrm>
            <a:prstGeom prst="line">
              <a:avLst/>
            </a:prstGeom>
            <a:ln w="19050">
              <a:solidFill>
                <a:srgbClr val="00457F"/>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A2FB6EEA-EACD-6D11-6747-3A262102F5CC}"/>
                </a:ext>
              </a:extLst>
            </p:cNvPr>
            <p:cNvCxnSpPr>
              <a:cxnSpLocks/>
            </p:cNvCxnSpPr>
            <p:nvPr/>
          </p:nvCxnSpPr>
          <p:spPr>
            <a:xfrm flipV="1">
              <a:off x="2344761" y="2133981"/>
              <a:ext cx="8792" cy="2678975"/>
            </a:xfrm>
            <a:prstGeom prst="line">
              <a:avLst/>
            </a:prstGeom>
            <a:ln w="19050">
              <a:solidFill>
                <a:srgbClr val="00457F"/>
              </a:solidFill>
            </a:ln>
          </p:spPr>
          <p:style>
            <a:lnRef idx="1">
              <a:schemeClr val="accent1"/>
            </a:lnRef>
            <a:fillRef idx="0">
              <a:schemeClr val="accent1"/>
            </a:fillRef>
            <a:effectRef idx="0">
              <a:schemeClr val="accent1"/>
            </a:effectRef>
            <a:fontRef idx="minor">
              <a:schemeClr val="tx1"/>
            </a:fontRef>
          </p:style>
        </p:cxnSp>
        <p:sp>
          <p:nvSpPr>
            <p:cNvPr id="15" name="Rectángulo: esquinas redondeadas 14">
              <a:extLst>
                <a:ext uri="{FF2B5EF4-FFF2-40B4-BE49-F238E27FC236}">
                  <a16:creationId xmlns:a16="http://schemas.microsoft.com/office/drawing/2014/main" id="{AF81E615-15DC-1AC2-A5EE-05EEDCDA4D04}"/>
                </a:ext>
              </a:extLst>
            </p:cNvPr>
            <p:cNvSpPr/>
            <p:nvPr/>
          </p:nvSpPr>
          <p:spPr>
            <a:xfrm>
              <a:off x="2834696" y="1931758"/>
              <a:ext cx="1257301" cy="422030"/>
            </a:xfrm>
            <a:prstGeom prst="roundRect">
              <a:avLst/>
            </a:prstGeom>
            <a:noFill/>
            <a:ln w="28575">
              <a:solidFill>
                <a:srgbClr val="0045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rgbClr val="00457F"/>
                  </a:solidFill>
                </a:rPr>
                <a:t>Gobierno</a:t>
              </a:r>
              <a:endParaRPr lang="es-GT" sz="1400" b="1" dirty="0">
                <a:solidFill>
                  <a:srgbClr val="00457F"/>
                </a:solidFill>
              </a:endParaRPr>
            </a:p>
          </p:txBody>
        </p:sp>
        <p:sp>
          <p:nvSpPr>
            <p:cNvPr id="16" name="Rectángulo: esquinas redondeadas 15">
              <a:extLst>
                <a:ext uri="{FF2B5EF4-FFF2-40B4-BE49-F238E27FC236}">
                  <a16:creationId xmlns:a16="http://schemas.microsoft.com/office/drawing/2014/main" id="{9767D378-88F9-EB77-D993-FC97B6F01F29}"/>
                </a:ext>
              </a:extLst>
            </p:cNvPr>
            <p:cNvSpPr/>
            <p:nvPr/>
          </p:nvSpPr>
          <p:spPr>
            <a:xfrm>
              <a:off x="2834696" y="2805381"/>
              <a:ext cx="1257302" cy="422030"/>
            </a:xfrm>
            <a:prstGeom prst="roundRect">
              <a:avLst/>
            </a:prstGeom>
            <a:noFill/>
            <a:ln w="28575">
              <a:solidFill>
                <a:srgbClr val="0045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rgbClr val="00457F"/>
                  </a:solidFill>
                </a:rPr>
                <a:t>Banco Central</a:t>
              </a:r>
              <a:endParaRPr lang="es-GT" sz="1400" b="1" dirty="0">
                <a:solidFill>
                  <a:srgbClr val="00457F"/>
                </a:solidFill>
              </a:endParaRPr>
            </a:p>
          </p:txBody>
        </p:sp>
        <p:sp>
          <p:nvSpPr>
            <p:cNvPr id="17" name="Rectángulo: esquinas redondeadas 16">
              <a:extLst>
                <a:ext uri="{FF2B5EF4-FFF2-40B4-BE49-F238E27FC236}">
                  <a16:creationId xmlns:a16="http://schemas.microsoft.com/office/drawing/2014/main" id="{79320038-A30F-296A-9D14-2C1BE1E8EB2E}"/>
                </a:ext>
              </a:extLst>
            </p:cNvPr>
            <p:cNvSpPr/>
            <p:nvPr/>
          </p:nvSpPr>
          <p:spPr>
            <a:xfrm>
              <a:off x="2834696" y="3694927"/>
              <a:ext cx="1257302" cy="422030"/>
            </a:xfrm>
            <a:prstGeom prst="roundRect">
              <a:avLst/>
            </a:prstGeom>
            <a:noFill/>
            <a:ln w="28575">
              <a:solidFill>
                <a:srgbClr val="0045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rgbClr val="00457F"/>
                  </a:solidFill>
                </a:rPr>
                <a:t>Sector Privado</a:t>
              </a:r>
              <a:endParaRPr lang="es-GT" sz="1400" b="1" dirty="0">
                <a:solidFill>
                  <a:srgbClr val="00457F"/>
                </a:solidFill>
              </a:endParaRPr>
            </a:p>
          </p:txBody>
        </p:sp>
        <p:cxnSp>
          <p:nvCxnSpPr>
            <p:cNvPr id="18" name="Conector recto 17">
              <a:extLst>
                <a:ext uri="{FF2B5EF4-FFF2-40B4-BE49-F238E27FC236}">
                  <a16:creationId xmlns:a16="http://schemas.microsoft.com/office/drawing/2014/main" id="{5216FF7E-BD7C-0A58-8133-057CA296E9D0}"/>
                </a:ext>
              </a:extLst>
            </p:cNvPr>
            <p:cNvCxnSpPr>
              <a:cxnSpLocks/>
            </p:cNvCxnSpPr>
            <p:nvPr/>
          </p:nvCxnSpPr>
          <p:spPr>
            <a:xfrm>
              <a:off x="2353553" y="2142773"/>
              <a:ext cx="481143" cy="0"/>
            </a:xfrm>
            <a:prstGeom prst="line">
              <a:avLst/>
            </a:prstGeom>
            <a:ln w="19050">
              <a:solidFill>
                <a:srgbClr val="00457F"/>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A814D613-8593-73BF-BA4F-F4394BA2A3FD}"/>
                </a:ext>
              </a:extLst>
            </p:cNvPr>
            <p:cNvCxnSpPr>
              <a:cxnSpLocks/>
            </p:cNvCxnSpPr>
            <p:nvPr/>
          </p:nvCxnSpPr>
          <p:spPr>
            <a:xfrm>
              <a:off x="2344761" y="3923410"/>
              <a:ext cx="481143" cy="0"/>
            </a:xfrm>
            <a:prstGeom prst="line">
              <a:avLst/>
            </a:prstGeom>
            <a:ln w="19050">
              <a:solidFill>
                <a:srgbClr val="00457F"/>
              </a:solidFill>
            </a:ln>
          </p:spPr>
          <p:style>
            <a:lnRef idx="1">
              <a:schemeClr val="accent1"/>
            </a:lnRef>
            <a:fillRef idx="0">
              <a:schemeClr val="accent1"/>
            </a:fillRef>
            <a:effectRef idx="0">
              <a:schemeClr val="accent1"/>
            </a:effectRef>
            <a:fontRef idx="minor">
              <a:schemeClr val="tx1"/>
            </a:fontRef>
          </p:style>
        </p:cxnSp>
        <p:sp>
          <p:nvSpPr>
            <p:cNvPr id="19" name="Rectángulo: esquinas redondeadas 18">
              <a:extLst>
                <a:ext uri="{FF2B5EF4-FFF2-40B4-BE49-F238E27FC236}">
                  <a16:creationId xmlns:a16="http://schemas.microsoft.com/office/drawing/2014/main" id="{92B5A1C9-21BD-418B-8540-9390D22A86A7}"/>
                </a:ext>
              </a:extLst>
            </p:cNvPr>
            <p:cNvSpPr/>
            <p:nvPr/>
          </p:nvSpPr>
          <p:spPr>
            <a:xfrm>
              <a:off x="2834696" y="4584473"/>
              <a:ext cx="1257302" cy="422030"/>
            </a:xfrm>
            <a:prstGeom prst="roundRect">
              <a:avLst/>
            </a:prstGeom>
            <a:noFill/>
            <a:ln w="28575">
              <a:solidFill>
                <a:srgbClr val="0045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rgbClr val="00457F"/>
                  </a:solidFill>
                </a:rPr>
                <a:t>Sector Externo</a:t>
              </a:r>
              <a:endParaRPr lang="es-GT" sz="1400" b="1" dirty="0">
                <a:solidFill>
                  <a:srgbClr val="00457F"/>
                </a:solidFill>
              </a:endParaRPr>
            </a:p>
          </p:txBody>
        </p:sp>
        <p:cxnSp>
          <p:nvCxnSpPr>
            <p:cNvPr id="20" name="Conector recto 19">
              <a:extLst>
                <a:ext uri="{FF2B5EF4-FFF2-40B4-BE49-F238E27FC236}">
                  <a16:creationId xmlns:a16="http://schemas.microsoft.com/office/drawing/2014/main" id="{84AF4E44-7317-4115-B0EF-7A8F4EB0EA0E}"/>
                </a:ext>
              </a:extLst>
            </p:cNvPr>
            <p:cNvCxnSpPr>
              <a:cxnSpLocks/>
            </p:cNvCxnSpPr>
            <p:nvPr/>
          </p:nvCxnSpPr>
          <p:spPr>
            <a:xfrm>
              <a:off x="2344761" y="4812956"/>
              <a:ext cx="481143" cy="0"/>
            </a:xfrm>
            <a:prstGeom prst="line">
              <a:avLst/>
            </a:prstGeom>
            <a:ln w="19050">
              <a:solidFill>
                <a:srgbClr val="00457F"/>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8CCAB5C9-3537-4E2F-BEC5-C097B80A36FB}"/>
                </a:ext>
              </a:extLst>
            </p:cNvPr>
            <p:cNvCxnSpPr>
              <a:cxnSpLocks/>
            </p:cNvCxnSpPr>
            <p:nvPr/>
          </p:nvCxnSpPr>
          <p:spPr>
            <a:xfrm>
              <a:off x="2353553" y="3022798"/>
              <a:ext cx="481143" cy="0"/>
            </a:xfrm>
            <a:prstGeom prst="line">
              <a:avLst/>
            </a:prstGeom>
            <a:ln w="19050">
              <a:solidFill>
                <a:srgbClr val="00457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81262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D4C3F3-0A0D-4459-883A-3C8C4F5B26B3}"/>
              </a:ext>
            </a:extLst>
          </p:cNvPr>
          <p:cNvSpPr>
            <a:spLocks noGrp="1"/>
          </p:cNvSpPr>
          <p:nvPr>
            <p:ph type="title"/>
          </p:nvPr>
        </p:nvSpPr>
        <p:spPr>
          <a:xfrm>
            <a:off x="1325088" y="-20537"/>
            <a:ext cx="7118838" cy="689952"/>
          </a:xfrm>
        </p:spPr>
        <p:txBody>
          <a:bodyPr/>
          <a:lstStyle/>
          <a:p>
            <a:r>
              <a:rPr lang="es-ES" dirty="0"/>
              <a:t>Lógica interna del modelo</a:t>
            </a:r>
            <a:endParaRPr lang="es-GT" dirty="0"/>
          </a:p>
        </p:txBody>
      </p:sp>
      <p:sp>
        <p:nvSpPr>
          <p:cNvPr id="4" name="Marcador de número de diapositiva 3">
            <a:extLst>
              <a:ext uri="{FF2B5EF4-FFF2-40B4-BE49-F238E27FC236}">
                <a16:creationId xmlns:a16="http://schemas.microsoft.com/office/drawing/2014/main" id="{1B438578-2A14-4107-8808-96259A6AB228}"/>
              </a:ext>
            </a:extLst>
          </p:cNvPr>
          <p:cNvSpPr>
            <a:spLocks noGrp="1"/>
          </p:cNvSpPr>
          <p:nvPr>
            <p:ph type="sldNum" sz="quarter" idx="12"/>
          </p:nvPr>
        </p:nvSpPr>
        <p:spPr/>
        <p:txBody>
          <a:bodyPr/>
          <a:lstStyle/>
          <a:p>
            <a:fld id="{2DD1AF16-C9BB-4ECC-8D85-F1550267F355}" type="slidenum">
              <a:rPr lang="es-GT" smtClean="0"/>
              <a:pPr/>
              <a:t>7</a:t>
            </a:fld>
            <a:endParaRPr lang="es-GT" dirty="0"/>
          </a:p>
        </p:txBody>
      </p:sp>
      <p:sp>
        <p:nvSpPr>
          <p:cNvPr id="15" name="Rectángulo: esquinas redondeadas 14">
            <a:extLst>
              <a:ext uri="{FF2B5EF4-FFF2-40B4-BE49-F238E27FC236}">
                <a16:creationId xmlns:a16="http://schemas.microsoft.com/office/drawing/2014/main" id="{533987B1-427B-9472-0F07-63B4A1998889}"/>
              </a:ext>
            </a:extLst>
          </p:cNvPr>
          <p:cNvSpPr/>
          <p:nvPr/>
        </p:nvSpPr>
        <p:spPr>
          <a:xfrm>
            <a:off x="801241" y="2092962"/>
            <a:ext cx="4437183" cy="3108372"/>
          </a:xfrm>
          <a:prstGeom prst="roundRect">
            <a:avLst>
              <a:gd name="adj" fmla="val 4727"/>
            </a:avLst>
          </a:prstGeom>
          <a:solidFill>
            <a:srgbClr val="F7FBFF"/>
          </a:solid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GT" sz="1400" b="1" dirty="0">
              <a:solidFill>
                <a:srgbClr val="00457F"/>
              </a:solidFill>
            </a:endParaRPr>
          </a:p>
        </p:txBody>
      </p:sp>
      <p:sp>
        <p:nvSpPr>
          <p:cNvPr id="73" name="Rectángulo: esquinas superiores redondeadas 72">
            <a:extLst>
              <a:ext uri="{FF2B5EF4-FFF2-40B4-BE49-F238E27FC236}">
                <a16:creationId xmlns:a16="http://schemas.microsoft.com/office/drawing/2014/main" id="{76454883-B220-2A78-E13C-CBF7F977F048}"/>
              </a:ext>
            </a:extLst>
          </p:cNvPr>
          <p:cNvSpPr/>
          <p:nvPr/>
        </p:nvSpPr>
        <p:spPr>
          <a:xfrm>
            <a:off x="801241" y="2092962"/>
            <a:ext cx="4437182" cy="370617"/>
          </a:xfrm>
          <a:prstGeom prst="round2SameRect">
            <a:avLst>
              <a:gd name="adj1" fmla="val 39097"/>
              <a:gd name="adj2" fmla="val 0"/>
            </a:avLst>
          </a:prstGeom>
          <a:solidFill>
            <a:srgbClr val="00457F"/>
          </a:solidFill>
          <a:ln>
            <a:solidFill>
              <a:srgbClr val="0045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CuadroTexto 4">
            <a:extLst>
              <a:ext uri="{FF2B5EF4-FFF2-40B4-BE49-F238E27FC236}">
                <a16:creationId xmlns:a16="http://schemas.microsoft.com/office/drawing/2014/main" id="{5E443643-47C7-C422-088C-2F9C737E8ED0}"/>
              </a:ext>
            </a:extLst>
          </p:cNvPr>
          <p:cNvSpPr txBox="1"/>
          <p:nvPr/>
        </p:nvSpPr>
        <p:spPr>
          <a:xfrm>
            <a:off x="1547481" y="2102187"/>
            <a:ext cx="3076035" cy="338554"/>
          </a:xfrm>
          <a:prstGeom prst="rect">
            <a:avLst/>
          </a:prstGeom>
          <a:noFill/>
        </p:spPr>
        <p:txBody>
          <a:bodyPr wrap="square" rtlCol="0">
            <a:spAutoFit/>
          </a:bodyPr>
          <a:lstStyle/>
          <a:p>
            <a:pPr algn="ctr"/>
            <a:r>
              <a:rPr lang="es-MX" sz="1600" b="1" u="sng" dirty="0">
                <a:solidFill>
                  <a:schemeClr val="bg1"/>
                </a:solidFill>
              </a:rPr>
              <a:t>Desviaciones (variables “ola”)</a:t>
            </a:r>
          </a:p>
        </p:txBody>
      </p:sp>
      <p:pic>
        <p:nvPicPr>
          <p:cNvPr id="75" name="Imagen 74">
            <a:extLst>
              <a:ext uri="{FF2B5EF4-FFF2-40B4-BE49-F238E27FC236}">
                <a16:creationId xmlns:a16="http://schemas.microsoft.com/office/drawing/2014/main" id="{9F66707F-3995-F119-24D1-4BF8AD0B1670}"/>
              </a:ext>
            </a:extLst>
          </p:cNvPr>
          <p:cNvPicPr>
            <a:picLocks noChangeAspect="1"/>
          </p:cNvPicPr>
          <p:nvPr/>
        </p:nvPicPr>
        <p:blipFill>
          <a:blip r:embed="rId2"/>
          <a:stretch>
            <a:fillRect/>
          </a:stretch>
        </p:blipFill>
        <p:spPr>
          <a:xfrm>
            <a:off x="1083241" y="3991532"/>
            <a:ext cx="611579" cy="611579"/>
          </a:xfrm>
          <a:prstGeom prst="rect">
            <a:avLst/>
          </a:prstGeom>
        </p:spPr>
      </p:pic>
      <p:pic>
        <p:nvPicPr>
          <p:cNvPr id="79" name="Imagen 78">
            <a:extLst>
              <a:ext uri="{FF2B5EF4-FFF2-40B4-BE49-F238E27FC236}">
                <a16:creationId xmlns:a16="http://schemas.microsoft.com/office/drawing/2014/main" id="{A287C703-E19B-E961-5F8A-146CF40D0555}"/>
              </a:ext>
            </a:extLst>
          </p:cNvPr>
          <p:cNvPicPr>
            <a:picLocks noChangeAspect="1"/>
          </p:cNvPicPr>
          <p:nvPr/>
        </p:nvPicPr>
        <p:blipFill>
          <a:blip r:embed="rId3"/>
          <a:stretch>
            <a:fillRect/>
          </a:stretch>
        </p:blipFill>
        <p:spPr>
          <a:xfrm>
            <a:off x="1083241" y="2855674"/>
            <a:ext cx="612000" cy="612000"/>
          </a:xfrm>
          <a:prstGeom prst="rect">
            <a:avLst/>
          </a:prstGeom>
        </p:spPr>
      </p:pic>
      <p:sp>
        <p:nvSpPr>
          <p:cNvPr id="80" name="CuadroTexto 79">
            <a:extLst>
              <a:ext uri="{FF2B5EF4-FFF2-40B4-BE49-F238E27FC236}">
                <a16:creationId xmlns:a16="http://schemas.microsoft.com/office/drawing/2014/main" id="{22BC947A-FE7C-AAD6-7A68-10E9FEDB0411}"/>
              </a:ext>
            </a:extLst>
          </p:cNvPr>
          <p:cNvSpPr txBox="1"/>
          <p:nvPr/>
        </p:nvSpPr>
        <p:spPr>
          <a:xfrm>
            <a:off x="1977241" y="2962827"/>
            <a:ext cx="3022272" cy="523220"/>
          </a:xfrm>
          <a:prstGeom prst="rect">
            <a:avLst/>
          </a:prstGeom>
          <a:noFill/>
        </p:spPr>
        <p:txBody>
          <a:bodyPr wrap="square" rtlCol="0">
            <a:spAutoFit/>
          </a:bodyPr>
          <a:lstStyle/>
          <a:p>
            <a:r>
              <a:rPr lang="es-MX" sz="1400" dirty="0"/>
              <a:t>17 variables, junto a sus correspondientes choques</a:t>
            </a:r>
            <a:endParaRPr lang="es-MX" dirty="0"/>
          </a:p>
        </p:txBody>
      </p:sp>
      <p:sp>
        <p:nvSpPr>
          <p:cNvPr id="82" name="CuadroTexto 81">
            <a:extLst>
              <a:ext uri="{FF2B5EF4-FFF2-40B4-BE49-F238E27FC236}">
                <a16:creationId xmlns:a16="http://schemas.microsoft.com/office/drawing/2014/main" id="{81BA03BD-A61B-0FA8-F80A-79FE61670DE0}"/>
              </a:ext>
            </a:extLst>
          </p:cNvPr>
          <p:cNvSpPr txBox="1"/>
          <p:nvPr/>
        </p:nvSpPr>
        <p:spPr>
          <a:xfrm>
            <a:off x="1955486" y="3985295"/>
            <a:ext cx="3022272" cy="738664"/>
          </a:xfrm>
          <a:prstGeom prst="rect">
            <a:avLst/>
          </a:prstGeom>
          <a:noFill/>
        </p:spPr>
        <p:txBody>
          <a:bodyPr wrap="square" rtlCol="0">
            <a:spAutoFit/>
          </a:bodyPr>
          <a:lstStyle/>
          <a:p>
            <a:pPr algn="just"/>
            <a:r>
              <a:rPr lang="es-MX" sz="1400" dirty="0"/>
              <a:t>Las dinámicas macroeconómicas se determinan en este sistema de ecuaciones.</a:t>
            </a:r>
            <a:endParaRPr lang="es-MX" dirty="0"/>
          </a:p>
        </p:txBody>
      </p:sp>
      <p:pic>
        <p:nvPicPr>
          <p:cNvPr id="84" name="Gráfico 83" descr="Atrás con relleno sólido">
            <a:extLst>
              <a:ext uri="{FF2B5EF4-FFF2-40B4-BE49-F238E27FC236}">
                <a16:creationId xmlns:a16="http://schemas.microsoft.com/office/drawing/2014/main" id="{1397FD42-1579-6D13-F6F8-D05701F396F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78351" y="3339874"/>
            <a:ext cx="1136073" cy="614548"/>
          </a:xfrm>
          <a:prstGeom prst="rect">
            <a:avLst/>
          </a:prstGeom>
        </p:spPr>
      </p:pic>
      <p:sp>
        <p:nvSpPr>
          <p:cNvPr id="88" name="Rectángulo: esquinas redondeadas 87">
            <a:extLst>
              <a:ext uri="{FF2B5EF4-FFF2-40B4-BE49-F238E27FC236}">
                <a16:creationId xmlns:a16="http://schemas.microsoft.com/office/drawing/2014/main" id="{A1F510BF-F02E-2EB1-5E5A-805FF0268F30}"/>
              </a:ext>
            </a:extLst>
          </p:cNvPr>
          <p:cNvSpPr/>
          <p:nvPr/>
        </p:nvSpPr>
        <p:spPr>
          <a:xfrm>
            <a:off x="6505355" y="2092962"/>
            <a:ext cx="4437183" cy="3108372"/>
          </a:xfrm>
          <a:prstGeom prst="roundRect">
            <a:avLst>
              <a:gd name="adj" fmla="val 4727"/>
            </a:avLst>
          </a:prstGeom>
          <a:solidFill>
            <a:srgbClr val="F7FBFF"/>
          </a:solid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GT" sz="1400" b="1" dirty="0">
              <a:solidFill>
                <a:srgbClr val="00457F"/>
              </a:solidFill>
            </a:endParaRPr>
          </a:p>
        </p:txBody>
      </p:sp>
      <p:sp>
        <p:nvSpPr>
          <p:cNvPr id="90" name="Rectángulo: esquinas superiores redondeadas 89">
            <a:extLst>
              <a:ext uri="{FF2B5EF4-FFF2-40B4-BE49-F238E27FC236}">
                <a16:creationId xmlns:a16="http://schemas.microsoft.com/office/drawing/2014/main" id="{6495358B-87FE-D494-A982-57AA612700D3}"/>
              </a:ext>
            </a:extLst>
          </p:cNvPr>
          <p:cNvSpPr/>
          <p:nvPr/>
        </p:nvSpPr>
        <p:spPr>
          <a:xfrm>
            <a:off x="6505355" y="2092962"/>
            <a:ext cx="4437182" cy="370617"/>
          </a:xfrm>
          <a:prstGeom prst="round2SameRect">
            <a:avLst>
              <a:gd name="adj1" fmla="val 39097"/>
              <a:gd name="adj2" fmla="val 0"/>
            </a:avLst>
          </a:prstGeom>
          <a:solidFill>
            <a:srgbClr val="00457F"/>
          </a:solidFill>
          <a:ln>
            <a:solidFill>
              <a:srgbClr val="0045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2" name="CuadroTexto 91">
            <a:extLst>
              <a:ext uri="{FF2B5EF4-FFF2-40B4-BE49-F238E27FC236}">
                <a16:creationId xmlns:a16="http://schemas.microsoft.com/office/drawing/2014/main" id="{D41DBDF7-2FA1-1766-E4CB-DFE417E01E80}"/>
              </a:ext>
            </a:extLst>
          </p:cNvPr>
          <p:cNvSpPr txBox="1"/>
          <p:nvPr/>
        </p:nvSpPr>
        <p:spPr>
          <a:xfrm>
            <a:off x="7751043" y="2092962"/>
            <a:ext cx="2127663" cy="338554"/>
          </a:xfrm>
          <a:prstGeom prst="rect">
            <a:avLst/>
          </a:prstGeom>
          <a:noFill/>
        </p:spPr>
        <p:txBody>
          <a:bodyPr wrap="square" rtlCol="0">
            <a:spAutoFit/>
          </a:bodyPr>
          <a:lstStyle/>
          <a:p>
            <a:r>
              <a:rPr lang="es-MX" sz="1600" b="1" u="sng" dirty="0">
                <a:solidFill>
                  <a:schemeClr val="bg1"/>
                </a:solidFill>
              </a:rPr>
              <a:t>Variables originales</a:t>
            </a:r>
          </a:p>
        </p:txBody>
      </p:sp>
      <p:sp>
        <p:nvSpPr>
          <p:cNvPr id="98" name="CuadroTexto 97">
            <a:extLst>
              <a:ext uri="{FF2B5EF4-FFF2-40B4-BE49-F238E27FC236}">
                <a16:creationId xmlns:a16="http://schemas.microsoft.com/office/drawing/2014/main" id="{278E6234-11ED-D8A3-A418-9D9098B9C5A6}"/>
              </a:ext>
            </a:extLst>
          </p:cNvPr>
          <p:cNvSpPr txBox="1"/>
          <p:nvPr/>
        </p:nvSpPr>
        <p:spPr>
          <a:xfrm>
            <a:off x="7681355" y="3242692"/>
            <a:ext cx="2819976" cy="954107"/>
          </a:xfrm>
          <a:prstGeom prst="rect">
            <a:avLst/>
          </a:prstGeom>
          <a:noFill/>
        </p:spPr>
        <p:txBody>
          <a:bodyPr wrap="square" rtlCol="0">
            <a:spAutoFit/>
          </a:bodyPr>
          <a:lstStyle/>
          <a:p>
            <a:pPr algn="just"/>
            <a:r>
              <a:rPr lang="es-MX" sz="1400" dirty="0"/>
              <a:t>Las trayectorias de las variables definidas como desviaciones determinan las trayectorias de las variables originales.</a:t>
            </a:r>
            <a:endParaRPr lang="es-MX" dirty="0"/>
          </a:p>
        </p:txBody>
      </p:sp>
      <p:pic>
        <p:nvPicPr>
          <p:cNvPr id="102" name="Imagen 101">
            <a:extLst>
              <a:ext uri="{FF2B5EF4-FFF2-40B4-BE49-F238E27FC236}">
                <a16:creationId xmlns:a16="http://schemas.microsoft.com/office/drawing/2014/main" id="{44485CCC-9023-3C38-F785-D8D8B4BC7930}"/>
              </a:ext>
            </a:extLst>
          </p:cNvPr>
          <p:cNvPicPr>
            <a:picLocks noChangeAspect="1"/>
          </p:cNvPicPr>
          <p:nvPr/>
        </p:nvPicPr>
        <p:blipFill>
          <a:blip r:embed="rId6"/>
          <a:stretch>
            <a:fillRect/>
          </a:stretch>
        </p:blipFill>
        <p:spPr>
          <a:xfrm>
            <a:off x="6787776" y="3325310"/>
            <a:ext cx="612000" cy="612000"/>
          </a:xfrm>
          <a:prstGeom prst="rect">
            <a:avLst/>
          </a:prstGeom>
        </p:spPr>
      </p:pic>
      <p:pic>
        <p:nvPicPr>
          <p:cNvPr id="105" name="Gráfico 104" descr="Insignia 1 con relleno sólido">
            <a:extLst>
              <a:ext uri="{FF2B5EF4-FFF2-40B4-BE49-F238E27FC236}">
                <a16:creationId xmlns:a16="http://schemas.microsoft.com/office/drawing/2014/main" id="{C7FE5284-7E0F-4649-D025-330B777E0DA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2023" y="2123547"/>
            <a:ext cx="324000" cy="324000"/>
          </a:xfrm>
          <a:prstGeom prst="rect">
            <a:avLst/>
          </a:prstGeom>
        </p:spPr>
      </p:pic>
      <p:pic>
        <p:nvPicPr>
          <p:cNvPr id="107" name="Gráfico 106" descr="Insignia con relleno sólido">
            <a:extLst>
              <a:ext uri="{FF2B5EF4-FFF2-40B4-BE49-F238E27FC236}">
                <a16:creationId xmlns:a16="http://schemas.microsoft.com/office/drawing/2014/main" id="{F514EBA4-3289-5B57-6B89-6D7FCAFA478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83370" y="2116270"/>
            <a:ext cx="324000" cy="324000"/>
          </a:xfrm>
          <a:prstGeom prst="rect">
            <a:avLst/>
          </a:prstGeom>
        </p:spPr>
      </p:pic>
      <p:sp>
        <p:nvSpPr>
          <p:cNvPr id="109" name="CuadroTexto 108">
            <a:extLst>
              <a:ext uri="{FF2B5EF4-FFF2-40B4-BE49-F238E27FC236}">
                <a16:creationId xmlns:a16="http://schemas.microsoft.com/office/drawing/2014/main" id="{81DE3D56-B82D-6DCA-F031-C9FC8AA2D041}"/>
              </a:ext>
            </a:extLst>
          </p:cNvPr>
          <p:cNvSpPr txBox="1"/>
          <p:nvPr/>
        </p:nvSpPr>
        <p:spPr>
          <a:xfrm>
            <a:off x="791361" y="728387"/>
            <a:ext cx="10151176" cy="830997"/>
          </a:xfrm>
          <a:prstGeom prst="rect">
            <a:avLst/>
          </a:prstGeom>
          <a:noFill/>
        </p:spPr>
        <p:txBody>
          <a:bodyPr wrap="square" rtlCol="0">
            <a:spAutoFit/>
          </a:bodyPr>
          <a:lstStyle/>
          <a:p>
            <a:pPr algn="just"/>
            <a:r>
              <a:rPr lang="es-MX" sz="1600" dirty="0"/>
              <a:t>El modelo puede concebirse como una estructura de dos capas que operan simultáneamente. La primera de ellas cuenta con todas las interacciones macroeconómicas relevantes, mientras que la segunda transforma los resultados de las variables expresadas como desviaciones hacia sus niveles originales.</a:t>
            </a:r>
            <a:endParaRPr lang="es-MX" sz="2000" dirty="0"/>
          </a:p>
        </p:txBody>
      </p:sp>
    </p:spTree>
    <p:extLst>
      <p:ext uri="{BB962C8B-B14F-4D97-AF65-F5344CB8AC3E}">
        <p14:creationId xmlns:p14="http://schemas.microsoft.com/office/powerpoint/2010/main" val="1547237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76BF4-E4DD-BE68-3F74-3E0FD73DDF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D94A351-5D19-B73A-3493-C8CB002E4177}"/>
              </a:ext>
            </a:extLst>
          </p:cNvPr>
          <p:cNvSpPr>
            <a:spLocks noGrp="1"/>
          </p:cNvSpPr>
          <p:nvPr>
            <p:ph type="title"/>
          </p:nvPr>
        </p:nvSpPr>
        <p:spPr>
          <a:xfrm>
            <a:off x="1325088" y="-20537"/>
            <a:ext cx="7118838" cy="689952"/>
          </a:xfrm>
        </p:spPr>
        <p:txBody>
          <a:bodyPr/>
          <a:lstStyle/>
          <a:p>
            <a:r>
              <a:rPr lang="es-ES" dirty="0"/>
              <a:t>Ejemplo gráfico del funcionamiento del modelo</a:t>
            </a:r>
            <a:endParaRPr lang="es-GT" dirty="0"/>
          </a:p>
        </p:txBody>
      </p:sp>
      <p:sp>
        <p:nvSpPr>
          <p:cNvPr id="4" name="Marcador de número de diapositiva 3">
            <a:extLst>
              <a:ext uri="{FF2B5EF4-FFF2-40B4-BE49-F238E27FC236}">
                <a16:creationId xmlns:a16="http://schemas.microsoft.com/office/drawing/2014/main" id="{D8444228-8F35-AFB1-FB8A-46B33B7764B9}"/>
              </a:ext>
            </a:extLst>
          </p:cNvPr>
          <p:cNvSpPr>
            <a:spLocks noGrp="1"/>
          </p:cNvSpPr>
          <p:nvPr>
            <p:ph type="sldNum" sz="quarter" idx="12"/>
          </p:nvPr>
        </p:nvSpPr>
        <p:spPr/>
        <p:txBody>
          <a:bodyPr/>
          <a:lstStyle/>
          <a:p>
            <a:fld id="{2DD1AF16-C9BB-4ECC-8D85-F1550267F355}" type="slidenum">
              <a:rPr lang="es-GT" smtClean="0"/>
              <a:pPr/>
              <a:t>8</a:t>
            </a:fld>
            <a:endParaRPr lang="es-GT" dirty="0"/>
          </a:p>
        </p:txBody>
      </p:sp>
      <p:sp>
        <p:nvSpPr>
          <p:cNvPr id="51" name="Marcador de contenido 2">
            <a:extLst>
              <a:ext uri="{FF2B5EF4-FFF2-40B4-BE49-F238E27FC236}">
                <a16:creationId xmlns:a16="http://schemas.microsoft.com/office/drawing/2014/main" id="{4894ED1C-C2CD-82CF-E53A-8FC421C07444}"/>
              </a:ext>
            </a:extLst>
          </p:cNvPr>
          <p:cNvSpPr txBox="1">
            <a:spLocks/>
          </p:cNvSpPr>
          <p:nvPr/>
        </p:nvSpPr>
        <p:spPr>
          <a:xfrm>
            <a:off x="286141" y="4461712"/>
            <a:ext cx="11418959" cy="8497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s-ES" sz="1600" dirty="0"/>
              <a:t>Como muestran las gráficas</a:t>
            </a:r>
            <a:r>
              <a:rPr lang="es-ES" sz="1600" baseline="30000" dirty="0"/>
              <a:t>*</a:t>
            </a:r>
            <a:r>
              <a:rPr lang="es-ES" sz="1600" dirty="0"/>
              <a:t>, choques que provoquen </a:t>
            </a:r>
            <a:r>
              <a:rPr lang="es-ES" sz="1600" b="1" dirty="0"/>
              <a:t>desviaciones persistentemente positivas</a:t>
            </a:r>
            <a:r>
              <a:rPr lang="es-ES" sz="1600" dirty="0"/>
              <a:t> de la inversión pública generan cambios en las desviaciones de otras variables. En última instancia los niveles de las variables originales se ven alterados, así como </a:t>
            </a:r>
            <a:r>
              <a:rPr lang="es-ES" sz="1600" b="1" dirty="0"/>
              <a:t>su convergencia de largo plazo</a:t>
            </a:r>
            <a:r>
              <a:rPr lang="es-ES" sz="1600" dirty="0"/>
              <a:t>.</a:t>
            </a:r>
          </a:p>
        </p:txBody>
      </p:sp>
      <p:sp>
        <p:nvSpPr>
          <p:cNvPr id="52" name="Marcador de contenido 2">
            <a:extLst>
              <a:ext uri="{FF2B5EF4-FFF2-40B4-BE49-F238E27FC236}">
                <a16:creationId xmlns:a16="http://schemas.microsoft.com/office/drawing/2014/main" id="{12D77627-1A33-BA17-18F9-5B4593C2093C}"/>
              </a:ext>
            </a:extLst>
          </p:cNvPr>
          <p:cNvSpPr txBox="1">
            <a:spLocks/>
          </p:cNvSpPr>
          <p:nvPr/>
        </p:nvSpPr>
        <p:spPr>
          <a:xfrm>
            <a:off x="286141" y="5564405"/>
            <a:ext cx="11041672" cy="3068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s-ES" sz="1100" dirty="0"/>
              <a:t>* Las gráficas están basados en datos simulados</a:t>
            </a:r>
            <a:endParaRPr lang="es-ES" sz="1400" dirty="0"/>
          </a:p>
        </p:txBody>
      </p:sp>
      <p:grpSp>
        <p:nvGrpSpPr>
          <p:cNvPr id="3" name="Grupo 2">
            <a:extLst>
              <a:ext uri="{FF2B5EF4-FFF2-40B4-BE49-F238E27FC236}">
                <a16:creationId xmlns:a16="http://schemas.microsoft.com/office/drawing/2014/main" id="{60F5FF5E-6BBB-6078-4763-1E779FD339F2}"/>
              </a:ext>
            </a:extLst>
          </p:cNvPr>
          <p:cNvGrpSpPr/>
          <p:nvPr/>
        </p:nvGrpSpPr>
        <p:grpSpPr>
          <a:xfrm>
            <a:off x="286142" y="754739"/>
            <a:ext cx="11418959" cy="3627963"/>
            <a:chOff x="286142" y="754739"/>
            <a:chExt cx="11418959" cy="3627963"/>
          </a:xfrm>
        </p:grpSpPr>
        <p:sp>
          <p:nvSpPr>
            <p:cNvPr id="38" name="CuadroTexto 37">
              <a:extLst>
                <a:ext uri="{FF2B5EF4-FFF2-40B4-BE49-F238E27FC236}">
                  <a16:creationId xmlns:a16="http://schemas.microsoft.com/office/drawing/2014/main" id="{FC8AA732-F00C-97E4-2594-49C57A0A006F}"/>
                </a:ext>
              </a:extLst>
            </p:cNvPr>
            <p:cNvSpPr txBox="1"/>
            <p:nvPr/>
          </p:nvSpPr>
          <p:spPr>
            <a:xfrm>
              <a:off x="934377" y="886235"/>
              <a:ext cx="1723293" cy="400110"/>
            </a:xfrm>
            <a:prstGeom prst="rect">
              <a:avLst/>
            </a:prstGeom>
            <a:noFill/>
          </p:spPr>
          <p:txBody>
            <a:bodyPr wrap="square" rtlCol="0">
              <a:spAutoFit/>
            </a:bodyPr>
            <a:lstStyle/>
            <a:p>
              <a:pPr algn="ctr"/>
              <a:r>
                <a:rPr lang="es-ES" sz="1000" b="1" dirty="0">
                  <a:solidFill>
                    <a:srgbClr val="00457F"/>
                  </a:solidFill>
                </a:rPr>
                <a:t>Inversión pública a PIB</a:t>
              </a:r>
            </a:p>
            <a:p>
              <a:pPr algn="ctr"/>
              <a:r>
                <a:rPr lang="es-ES" sz="1000" b="1" dirty="0">
                  <a:solidFill>
                    <a:srgbClr val="00457F"/>
                  </a:solidFill>
                </a:rPr>
                <a:t>(desviaciones)</a:t>
              </a:r>
              <a:endParaRPr lang="es-GT" sz="1000" b="1" dirty="0">
                <a:solidFill>
                  <a:srgbClr val="00457F"/>
                </a:solidFill>
              </a:endParaRPr>
            </a:p>
          </p:txBody>
        </p:sp>
        <p:sp>
          <p:nvSpPr>
            <p:cNvPr id="39" name="CuadroTexto 38">
              <a:extLst>
                <a:ext uri="{FF2B5EF4-FFF2-40B4-BE49-F238E27FC236}">
                  <a16:creationId xmlns:a16="http://schemas.microsoft.com/office/drawing/2014/main" id="{B526E76F-A7D5-755E-A2C8-D0FD1365C65E}"/>
                </a:ext>
              </a:extLst>
            </p:cNvPr>
            <p:cNvSpPr txBox="1"/>
            <p:nvPr/>
          </p:nvSpPr>
          <p:spPr>
            <a:xfrm>
              <a:off x="3788228" y="891374"/>
              <a:ext cx="1723293" cy="400110"/>
            </a:xfrm>
            <a:prstGeom prst="rect">
              <a:avLst/>
            </a:prstGeom>
            <a:noFill/>
          </p:spPr>
          <p:txBody>
            <a:bodyPr wrap="square" rtlCol="0">
              <a:spAutoFit/>
            </a:bodyPr>
            <a:lstStyle/>
            <a:p>
              <a:pPr algn="ctr"/>
              <a:r>
                <a:rPr lang="es-ES" sz="1000" b="1" dirty="0">
                  <a:solidFill>
                    <a:srgbClr val="00457F"/>
                  </a:solidFill>
                </a:rPr>
                <a:t>Inversión pública a PIB</a:t>
              </a:r>
            </a:p>
            <a:p>
              <a:pPr algn="ctr"/>
              <a:r>
                <a:rPr lang="es-ES" sz="1000" b="1" dirty="0">
                  <a:solidFill>
                    <a:srgbClr val="00457F"/>
                  </a:solidFill>
                </a:rPr>
                <a:t>%</a:t>
              </a:r>
              <a:endParaRPr lang="es-GT" sz="1000" b="1" dirty="0">
                <a:solidFill>
                  <a:srgbClr val="00457F"/>
                </a:solidFill>
              </a:endParaRPr>
            </a:p>
          </p:txBody>
        </p:sp>
        <p:sp>
          <p:nvSpPr>
            <p:cNvPr id="40" name="CuadroTexto 39">
              <a:extLst>
                <a:ext uri="{FF2B5EF4-FFF2-40B4-BE49-F238E27FC236}">
                  <a16:creationId xmlns:a16="http://schemas.microsoft.com/office/drawing/2014/main" id="{957A90EB-CC96-ADA1-5593-02C57B012017}"/>
                </a:ext>
              </a:extLst>
            </p:cNvPr>
            <p:cNvSpPr txBox="1"/>
            <p:nvPr/>
          </p:nvSpPr>
          <p:spPr>
            <a:xfrm>
              <a:off x="9386503" y="886235"/>
              <a:ext cx="1922585" cy="400110"/>
            </a:xfrm>
            <a:prstGeom prst="rect">
              <a:avLst/>
            </a:prstGeom>
            <a:noFill/>
          </p:spPr>
          <p:txBody>
            <a:bodyPr wrap="square" rtlCol="0">
              <a:spAutoFit/>
            </a:bodyPr>
            <a:lstStyle/>
            <a:p>
              <a:pPr algn="ctr"/>
              <a:r>
                <a:rPr lang="es-ES" sz="1000" b="1" dirty="0">
                  <a:solidFill>
                    <a:srgbClr val="00457F"/>
                  </a:solidFill>
                </a:rPr>
                <a:t>Crecimiento económico</a:t>
              </a:r>
            </a:p>
            <a:p>
              <a:pPr algn="ctr"/>
              <a:r>
                <a:rPr lang="es-ES" sz="1000" b="1" dirty="0">
                  <a:solidFill>
                    <a:srgbClr val="00457F"/>
                  </a:solidFill>
                </a:rPr>
                <a:t>%</a:t>
              </a:r>
              <a:endParaRPr lang="es-GT" sz="1000" b="1" dirty="0">
                <a:solidFill>
                  <a:srgbClr val="00457F"/>
                </a:solidFill>
              </a:endParaRPr>
            </a:p>
          </p:txBody>
        </p:sp>
        <p:cxnSp>
          <p:nvCxnSpPr>
            <p:cNvPr id="44" name="Conector recto 43">
              <a:extLst>
                <a:ext uri="{FF2B5EF4-FFF2-40B4-BE49-F238E27FC236}">
                  <a16:creationId xmlns:a16="http://schemas.microsoft.com/office/drawing/2014/main" id="{9818E6B7-E94B-E92C-C662-2EECE3DC7417}"/>
                </a:ext>
              </a:extLst>
            </p:cNvPr>
            <p:cNvCxnSpPr/>
            <p:nvPr/>
          </p:nvCxnSpPr>
          <p:spPr>
            <a:xfrm>
              <a:off x="4526922" y="4233392"/>
              <a:ext cx="468000" cy="0"/>
            </a:xfrm>
            <a:prstGeom prst="line">
              <a:avLst/>
            </a:prstGeom>
            <a:ln w="19050"/>
          </p:spPr>
          <p:style>
            <a:lnRef idx="1">
              <a:schemeClr val="dk1"/>
            </a:lnRef>
            <a:fillRef idx="0">
              <a:schemeClr val="dk1"/>
            </a:fillRef>
            <a:effectRef idx="0">
              <a:schemeClr val="dk1"/>
            </a:effectRef>
            <a:fontRef idx="minor">
              <a:schemeClr val="tx1"/>
            </a:fontRef>
          </p:style>
        </p:cxnSp>
        <p:sp>
          <p:nvSpPr>
            <p:cNvPr id="45" name="CuadroTexto 44">
              <a:extLst>
                <a:ext uri="{FF2B5EF4-FFF2-40B4-BE49-F238E27FC236}">
                  <a16:creationId xmlns:a16="http://schemas.microsoft.com/office/drawing/2014/main" id="{AFB47745-2A96-216C-317C-411EEA750DE4}"/>
                </a:ext>
              </a:extLst>
            </p:cNvPr>
            <p:cNvSpPr txBox="1"/>
            <p:nvPr/>
          </p:nvSpPr>
          <p:spPr>
            <a:xfrm>
              <a:off x="3951514" y="4110282"/>
              <a:ext cx="756139" cy="246221"/>
            </a:xfrm>
            <a:prstGeom prst="rect">
              <a:avLst/>
            </a:prstGeom>
            <a:noFill/>
          </p:spPr>
          <p:txBody>
            <a:bodyPr wrap="square" rtlCol="0">
              <a:spAutoFit/>
            </a:bodyPr>
            <a:lstStyle/>
            <a:p>
              <a:r>
                <a:rPr lang="es-ES" sz="1000" dirty="0"/>
                <a:t>Historia</a:t>
              </a:r>
              <a:endParaRPr lang="es-GT" sz="1000" dirty="0"/>
            </a:p>
          </p:txBody>
        </p:sp>
        <p:cxnSp>
          <p:nvCxnSpPr>
            <p:cNvPr id="46" name="Conector recto 45">
              <a:extLst>
                <a:ext uri="{FF2B5EF4-FFF2-40B4-BE49-F238E27FC236}">
                  <a16:creationId xmlns:a16="http://schemas.microsoft.com/office/drawing/2014/main" id="{28476789-D5E5-79EF-999A-217701D03836}"/>
                </a:ext>
              </a:extLst>
            </p:cNvPr>
            <p:cNvCxnSpPr/>
            <p:nvPr/>
          </p:nvCxnSpPr>
          <p:spPr>
            <a:xfrm>
              <a:off x="5914294" y="4243730"/>
              <a:ext cx="468000" cy="0"/>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
          <p:nvSpPr>
            <p:cNvPr id="47" name="CuadroTexto 46">
              <a:extLst>
                <a:ext uri="{FF2B5EF4-FFF2-40B4-BE49-F238E27FC236}">
                  <a16:creationId xmlns:a16="http://schemas.microsoft.com/office/drawing/2014/main" id="{2A8B04A2-917B-F304-37B5-1F4E6EE2872E}"/>
                </a:ext>
              </a:extLst>
            </p:cNvPr>
            <p:cNvSpPr txBox="1"/>
            <p:nvPr/>
          </p:nvSpPr>
          <p:spPr>
            <a:xfrm>
              <a:off x="5137178" y="4131871"/>
              <a:ext cx="958822" cy="246221"/>
            </a:xfrm>
            <a:prstGeom prst="rect">
              <a:avLst/>
            </a:prstGeom>
            <a:noFill/>
          </p:spPr>
          <p:txBody>
            <a:bodyPr wrap="square" rtlCol="0">
              <a:spAutoFit/>
            </a:bodyPr>
            <a:lstStyle/>
            <a:p>
              <a:r>
                <a:rPr lang="es-ES" sz="1000" dirty="0"/>
                <a:t>Pronóstico</a:t>
              </a:r>
              <a:endParaRPr lang="es-GT" sz="1000" dirty="0"/>
            </a:p>
          </p:txBody>
        </p:sp>
        <p:sp>
          <p:nvSpPr>
            <p:cNvPr id="48" name="CuadroTexto 47">
              <a:extLst>
                <a:ext uri="{FF2B5EF4-FFF2-40B4-BE49-F238E27FC236}">
                  <a16:creationId xmlns:a16="http://schemas.microsoft.com/office/drawing/2014/main" id="{E3EB3CE5-4A82-59BF-781C-4C047E8D242B}"/>
                </a:ext>
              </a:extLst>
            </p:cNvPr>
            <p:cNvSpPr txBox="1"/>
            <p:nvPr/>
          </p:nvSpPr>
          <p:spPr>
            <a:xfrm>
              <a:off x="6525525" y="4136481"/>
              <a:ext cx="1153488" cy="246221"/>
            </a:xfrm>
            <a:prstGeom prst="rect">
              <a:avLst/>
            </a:prstGeom>
            <a:noFill/>
          </p:spPr>
          <p:txBody>
            <a:bodyPr wrap="square" rtlCol="0">
              <a:spAutoFit/>
            </a:bodyPr>
            <a:lstStyle/>
            <a:p>
              <a:r>
                <a:rPr lang="es-ES" sz="1000" dirty="0"/>
                <a:t>Fin de Historia</a:t>
              </a:r>
              <a:endParaRPr lang="es-GT" sz="1000" dirty="0"/>
            </a:p>
          </p:txBody>
        </p:sp>
        <p:cxnSp>
          <p:nvCxnSpPr>
            <p:cNvPr id="49" name="Conector recto 48">
              <a:extLst>
                <a:ext uri="{FF2B5EF4-FFF2-40B4-BE49-F238E27FC236}">
                  <a16:creationId xmlns:a16="http://schemas.microsoft.com/office/drawing/2014/main" id="{3164473B-CE83-B835-5A0F-C80951E24E6A}"/>
                </a:ext>
              </a:extLst>
            </p:cNvPr>
            <p:cNvCxnSpPr/>
            <p:nvPr/>
          </p:nvCxnSpPr>
          <p:spPr>
            <a:xfrm>
              <a:off x="7493302" y="4259591"/>
              <a:ext cx="468000" cy="0"/>
            </a:xfrm>
            <a:prstGeom prst="line">
              <a:avLst/>
            </a:prstGeom>
            <a:ln w="19050">
              <a:solidFill>
                <a:schemeClr val="bg2">
                  <a:lumMod val="75000"/>
                </a:schemeClr>
              </a:solidFill>
              <a:prstDash val="sysDot"/>
            </a:ln>
          </p:spPr>
          <p:style>
            <a:lnRef idx="1">
              <a:schemeClr val="dk1"/>
            </a:lnRef>
            <a:fillRef idx="0">
              <a:schemeClr val="dk1"/>
            </a:fillRef>
            <a:effectRef idx="0">
              <a:schemeClr val="dk1"/>
            </a:effectRef>
            <a:fontRef idx="minor">
              <a:schemeClr val="tx1"/>
            </a:fontRef>
          </p:style>
        </p:cxnSp>
        <p:pic>
          <p:nvPicPr>
            <p:cNvPr id="7" name="Imagen 6">
              <a:extLst>
                <a:ext uri="{FF2B5EF4-FFF2-40B4-BE49-F238E27FC236}">
                  <a16:creationId xmlns:a16="http://schemas.microsoft.com/office/drawing/2014/main" id="{007CC081-D5C7-2E39-35F3-676A9CC437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142" y="1228931"/>
              <a:ext cx="11418959" cy="2854740"/>
            </a:xfrm>
            <a:prstGeom prst="rect">
              <a:avLst/>
            </a:prstGeom>
          </p:spPr>
        </p:pic>
        <p:sp>
          <p:nvSpPr>
            <p:cNvPr id="9" name="CuadroTexto 8">
              <a:extLst>
                <a:ext uri="{FF2B5EF4-FFF2-40B4-BE49-F238E27FC236}">
                  <a16:creationId xmlns:a16="http://schemas.microsoft.com/office/drawing/2014/main" id="{9833F83B-F819-8904-635C-6762EA0FE71D}"/>
                </a:ext>
              </a:extLst>
            </p:cNvPr>
            <p:cNvSpPr txBox="1"/>
            <p:nvPr/>
          </p:nvSpPr>
          <p:spPr>
            <a:xfrm>
              <a:off x="6571936" y="893696"/>
              <a:ext cx="1922585" cy="400110"/>
            </a:xfrm>
            <a:prstGeom prst="rect">
              <a:avLst/>
            </a:prstGeom>
            <a:noFill/>
          </p:spPr>
          <p:txBody>
            <a:bodyPr wrap="square" rtlCol="0">
              <a:spAutoFit/>
            </a:bodyPr>
            <a:lstStyle/>
            <a:p>
              <a:pPr algn="ctr"/>
              <a:r>
                <a:rPr lang="es-ES" sz="1000" b="1" dirty="0">
                  <a:solidFill>
                    <a:srgbClr val="00457F"/>
                  </a:solidFill>
                </a:rPr>
                <a:t>Crecimiento económico</a:t>
              </a:r>
            </a:p>
            <a:p>
              <a:pPr algn="ctr"/>
              <a:r>
                <a:rPr lang="es-ES" sz="1000" b="1" dirty="0">
                  <a:solidFill>
                    <a:srgbClr val="00457F"/>
                  </a:solidFill>
                </a:rPr>
                <a:t>(desviaciones)</a:t>
              </a:r>
              <a:endParaRPr lang="es-GT" sz="1000" b="1" dirty="0">
                <a:solidFill>
                  <a:srgbClr val="00457F"/>
                </a:solidFill>
              </a:endParaRPr>
            </a:p>
          </p:txBody>
        </p:sp>
        <p:sp>
          <p:nvSpPr>
            <p:cNvPr id="16" name="Flecha: curvada hacia abajo 15">
              <a:extLst>
                <a:ext uri="{FF2B5EF4-FFF2-40B4-BE49-F238E27FC236}">
                  <a16:creationId xmlns:a16="http://schemas.microsoft.com/office/drawing/2014/main" id="{600B63C6-3EDC-D98E-1163-0101391583F2}"/>
                </a:ext>
              </a:extLst>
            </p:cNvPr>
            <p:cNvSpPr/>
            <p:nvPr/>
          </p:nvSpPr>
          <p:spPr>
            <a:xfrm>
              <a:off x="2424241" y="1153427"/>
              <a:ext cx="1527273" cy="291264"/>
            </a:xfrm>
            <a:prstGeom prst="curvedDownArrow">
              <a:avLst>
                <a:gd name="adj1" fmla="val 0"/>
                <a:gd name="adj2" fmla="val 50000"/>
                <a:gd name="adj3" fmla="val 26506"/>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tx1"/>
                </a:solidFill>
              </a:endParaRPr>
            </a:p>
          </p:txBody>
        </p:sp>
        <p:sp>
          <p:nvSpPr>
            <p:cNvPr id="18" name="Flecha: curvada hacia abajo 17">
              <a:extLst>
                <a:ext uri="{FF2B5EF4-FFF2-40B4-BE49-F238E27FC236}">
                  <a16:creationId xmlns:a16="http://schemas.microsoft.com/office/drawing/2014/main" id="{0EDBB2DE-A58B-4460-69BD-404195B11582}"/>
                </a:ext>
              </a:extLst>
            </p:cNvPr>
            <p:cNvSpPr/>
            <p:nvPr/>
          </p:nvSpPr>
          <p:spPr>
            <a:xfrm>
              <a:off x="2424241" y="754739"/>
              <a:ext cx="4778144" cy="689952"/>
            </a:xfrm>
            <a:prstGeom prst="curvedDownArrow">
              <a:avLst>
                <a:gd name="adj1" fmla="val 0"/>
                <a:gd name="adj2" fmla="val 26604"/>
                <a:gd name="adj3" fmla="val 11876"/>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tx1"/>
                </a:solidFill>
              </a:endParaRPr>
            </a:p>
          </p:txBody>
        </p:sp>
        <p:sp>
          <p:nvSpPr>
            <p:cNvPr id="20" name="Flecha: curvada hacia abajo 19">
              <a:extLst>
                <a:ext uri="{FF2B5EF4-FFF2-40B4-BE49-F238E27FC236}">
                  <a16:creationId xmlns:a16="http://schemas.microsoft.com/office/drawing/2014/main" id="{5DA979AD-745F-AEC9-6147-C699CF387417}"/>
                </a:ext>
              </a:extLst>
            </p:cNvPr>
            <p:cNvSpPr/>
            <p:nvPr/>
          </p:nvSpPr>
          <p:spPr>
            <a:xfrm>
              <a:off x="8295534" y="1124443"/>
              <a:ext cx="1527273" cy="291264"/>
            </a:xfrm>
            <a:prstGeom prst="curvedDownArrow">
              <a:avLst>
                <a:gd name="adj1" fmla="val 0"/>
                <a:gd name="adj2" fmla="val 50000"/>
                <a:gd name="adj3" fmla="val 26506"/>
              </a:avLst>
            </a:prstGeom>
            <a:solidFill>
              <a:srgbClr val="0077DA"/>
            </a:solidFill>
            <a:ln>
              <a:solidFill>
                <a:srgbClr val="0077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tx1"/>
                </a:solidFill>
              </a:endParaRPr>
            </a:p>
          </p:txBody>
        </p:sp>
      </p:grpSp>
    </p:spTree>
    <p:extLst>
      <p:ext uri="{BB962C8B-B14F-4D97-AF65-F5344CB8AC3E}">
        <p14:creationId xmlns:p14="http://schemas.microsoft.com/office/powerpoint/2010/main" val="3553450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D4C3F3-0A0D-4459-883A-3C8C4F5B26B3}"/>
              </a:ext>
            </a:extLst>
          </p:cNvPr>
          <p:cNvSpPr>
            <a:spLocks noGrp="1"/>
          </p:cNvSpPr>
          <p:nvPr>
            <p:ph type="title"/>
          </p:nvPr>
        </p:nvSpPr>
        <p:spPr>
          <a:xfrm>
            <a:off x="1295400" y="74980"/>
            <a:ext cx="7118838" cy="689952"/>
          </a:xfrm>
        </p:spPr>
        <p:txBody>
          <a:bodyPr/>
          <a:lstStyle/>
          <a:p>
            <a:r>
              <a:rPr lang="es-ES" dirty="0"/>
              <a:t>Modelo para Proyecciones Macroeconómicas</a:t>
            </a:r>
            <a:endParaRPr lang="es-GT" dirty="0"/>
          </a:p>
        </p:txBody>
      </p:sp>
      <p:sp>
        <p:nvSpPr>
          <p:cNvPr id="4" name="Marcador de número de diapositiva 3">
            <a:extLst>
              <a:ext uri="{FF2B5EF4-FFF2-40B4-BE49-F238E27FC236}">
                <a16:creationId xmlns:a16="http://schemas.microsoft.com/office/drawing/2014/main" id="{1B438578-2A14-4107-8808-96259A6AB228}"/>
              </a:ext>
            </a:extLst>
          </p:cNvPr>
          <p:cNvSpPr>
            <a:spLocks noGrp="1"/>
          </p:cNvSpPr>
          <p:nvPr>
            <p:ph type="sldNum" sz="quarter" idx="12"/>
          </p:nvPr>
        </p:nvSpPr>
        <p:spPr/>
        <p:txBody>
          <a:bodyPr/>
          <a:lstStyle/>
          <a:p>
            <a:fld id="{2DD1AF16-C9BB-4ECC-8D85-F1550267F355}" type="slidenum">
              <a:rPr lang="es-GT" smtClean="0"/>
              <a:pPr/>
              <a:t>9</a:t>
            </a:fld>
            <a:endParaRPr lang="es-GT" dirty="0"/>
          </a:p>
        </p:txBody>
      </p:sp>
      <p:sp>
        <p:nvSpPr>
          <p:cNvPr id="3" name="Rectángulo: esquinas redondeadas 2">
            <a:extLst>
              <a:ext uri="{FF2B5EF4-FFF2-40B4-BE49-F238E27FC236}">
                <a16:creationId xmlns:a16="http://schemas.microsoft.com/office/drawing/2014/main" id="{58FF00A4-0589-4ADE-91FD-0029FE6395CD}"/>
              </a:ext>
            </a:extLst>
          </p:cNvPr>
          <p:cNvSpPr/>
          <p:nvPr/>
        </p:nvSpPr>
        <p:spPr>
          <a:xfrm>
            <a:off x="1515206" y="1273624"/>
            <a:ext cx="2074985" cy="2014576"/>
          </a:xfrm>
          <a:prstGeom prst="roundRect">
            <a:avLst>
              <a:gd name="adj" fmla="val 7345"/>
            </a:avLst>
          </a:prstGeom>
          <a:solidFill>
            <a:srgbClr val="F7FBFF"/>
          </a:solid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s-ES" sz="1400" b="1" dirty="0">
                <a:solidFill>
                  <a:srgbClr val="00457F"/>
                </a:solidFill>
              </a:rPr>
              <a:t>Exógenas externas</a:t>
            </a:r>
            <a:endParaRPr lang="es-GT" sz="1400" b="1" dirty="0">
              <a:solidFill>
                <a:srgbClr val="00457F"/>
              </a:solidFill>
            </a:endParaRPr>
          </a:p>
        </p:txBody>
      </p:sp>
      <p:grpSp>
        <p:nvGrpSpPr>
          <p:cNvPr id="7" name="Grupo 6">
            <a:extLst>
              <a:ext uri="{FF2B5EF4-FFF2-40B4-BE49-F238E27FC236}">
                <a16:creationId xmlns:a16="http://schemas.microsoft.com/office/drawing/2014/main" id="{BC5D21D0-9365-4C45-BB76-B3A43EDEECC3}"/>
              </a:ext>
            </a:extLst>
          </p:cNvPr>
          <p:cNvGrpSpPr/>
          <p:nvPr/>
        </p:nvGrpSpPr>
        <p:grpSpPr>
          <a:xfrm>
            <a:off x="1587008" y="1734640"/>
            <a:ext cx="1931377" cy="386861"/>
            <a:chOff x="451338" y="1696914"/>
            <a:chExt cx="1931377" cy="386861"/>
          </a:xfrm>
        </p:grpSpPr>
        <p:sp>
          <p:nvSpPr>
            <p:cNvPr id="5" name="Rectángulo: esquinas redondeadas 4">
              <a:extLst>
                <a:ext uri="{FF2B5EF4-FFF2-40B4-BE49-F238E27FC236}">
                  <a16:creationId xmlns:a16="http://schemas.microsoft.com/office/drawing/2014/main" id="{07086600-1D0F-449C-BC46-B0466E61DA12}"/>
                </a:ext>
              </a:extLst>
            </p:cNvPr>
            <p:cNvSpPr/>
            <p:nvPr/>
          </p:nvSpPr>
          <p:spPr>
            <a:xfrm>
              <a:off x="451338" y="1696914"/>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z="800" dirty="0">
                  <a:solidFill>
                    <a:srgbClr val="00457F"/>
                  </a:solidFill>
                </a:rPr>
                <a:t>Crecimiento económico externo</a:t>
              </a:r>
              <a:endParaRPr lang="es-GT" sz="1000" dirty="0">
                <a:solidFill>
                  <a:srgbClr val="00457F"/>
                </a:solidFill>
              </a:endParaRPr>
            </a:p>
          </p:txBody>
        </p:sp>
        <p:sp>
          <p:nvSpPr>
            <p:cNvPr id="6" name="Elipse 5">
              <a:extLst>
                <a:ext uri="{FF2B5EF4-FFF2-40B4-BE49-F238E27FC236}">
                  <a16:creationId xmlns:a16="http://schemas.microsoft.com/office/drawing/2014/main" id="{674417D1-9422-46B1-B8BB-2E3F2365ABD1}"/>
                </a:ext>
              </a:extLst>
            </p:cNvPr>
            <p:cNvSpPr/>
            <p:nvPr/>
          </p:nvSpPr>
          <p:spPr>
            <a:xfrm>
              <a:off x="501161" y="1782344"/>
              <a:ext cx="216000" cy="216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b="1" dirty="0">
                  <a:solidFill>
                    <a:srgbClr val="00457F"/>
                  </a:solidFill>
                </a:rPr>
                <a:t>1</a:t>
              </a:r>
              <a:endParaRPr lang="es-GT" sz="1050" b="1" dirty="0">
                <a:solidFill>
                  <a:srgbClr val="00457F"/>
                </a:solidFill>
              </a:endParaRPr>
            </a:p>
          </p:txBody>
        </p:sp>
      </p:grpSp>
      <p:grpSp>
        <p:nvGrpSpPr>
          <p:cNvPr id="22" name="Grupo 21">
            <a:extLst>
              <a:ext uri="{FF2B5EF4-FFF2-40B4-BE49-F238E27FC236}">
                <a16:creationId xmlns:a16="http://schemas.microsoft.com/office/drawing/2014/main" id="{9BAA5B04-0149-4EBE-AD67-B817952FA667}"/>
              </a:ext>
            </a:extLst>
          </p:cNvPr>
          <p:cNvGrpSpPr/>
          <p:nvPr/>
        </p:nvGrpSpPr>
        <p:grpSpPr>
          <a:xfrm>
            <a:off x="1587008" y="2239553"/>
            <a:ext cx="1931377" cy="386861"/>
            <a:chOff x="451338" y="1720653"/>
            <a:chExt cx="1931377" cy="386861"/>
          </a:xfrm>
        </p:grpSpPr>
        <p:sp>
          <p:nvSpPr>
            <p:cNvPr id="23" name="Rectángulo: esquinas redondeadas 22">
              <a:extLst>
                <a:ext uri="{FF2B5EF4-FFF2-40B4-BE49-F238E27FC236}">
                  <a16:creationId xmlns:a16="http://schemas.microsoft.com/office/drawing/2014/main" id="{FD9C29C0-86B0-4452-885D-304F94C1BCD3}"/>
                </a:ext>
              </a:extLst>
            </p:cNvPr>
            <p:cNvSpPr/>
            <p:nvPr/>
          </p:nvSpPr>
          <p:spPr>
            <a:xfrm>
              <a:off x="451338" y="1720653"/>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800" dirty="0">
                  <a:solidFill>
                    <a:srgbClr val="00457F"/>
                  </a:solidFill>
                </a:rPr>
                <a:t>        Tasa de interés externa</a:t>
              </a:r>
              <a:endParaRPr lang="es-GT" sz="1000" dirty="0">
                <a:solidFill>
                  <a:srgbClr val="00457F"/>
                </a:solidFill>
              </a:endParaRPr>
            </a:p>
          </p:txBody>
        </p:sp>
        <p:sp>
          <p:nvSpPr>
            <p:cNvPr id="24" name="Elipse 23">
              <a:extLst>
                <a:ext uri="{FF2B5EF4-FFF2-40B4-BE49-F238E27FC236}">
                  <a16:creationId xmlns:a16="http://schemas.microsoft.com/office/drawing/2014/main" id="{B2E044BE-910A-4AF7-AF18-94F61AE61817}"/>
                </a:ext>
              </a:extLst>
            </p:cNvPr>
            <p:cNvSpPr/>
            <p:nvPr/>
          </p:nvSpPr>
          <p:spPr>
            <a:xfrm>
              <a:off x="501161" y="1782344"/>
              <a:ext cx="216000" cy="216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b="1" dirty="0">
                  <a:solidFill>
                    <a:srgbClr val="00457F"/>
                  </a:solidFill>
                </a:rPr>
                <a:t>2</a:t>
              </a:r>
              <a:endParaRPr lang="es-GT" sz="1050" b="1" dirty="0">
                <a:solidFill>
                  <a:srgbClr val="00457F"/>
                </a:solidFill>
              </a:endParaRPr>
            </a:p>
          </p:txBody>
        </p:sp>
      </p:grpSp>
      <p:grpSp>
        <p:nvGrpSpPr>
          <p:cNvPr id="25" name="Grupo 24">
            <a:extLst>
              <a:ext uri="{FF2B5EF4-FFF2-40B4-BE49-F238E27FC236}">
                <a16:creationId xmlns:a16="http://schemas.microsoft.com/office/drawing/2014/main" id="{ED0342D8-57BC-498C-AC79-3FFE71A350A1}"/>
              </a:ext>
            </a:extLst>
          </p:cNvPr>
          <p:cNvGrpSpPr/>
          <p:nvPr/>
        </p:nvGrpSpPr>
        <p:grpSpPr>
          <a:xfrm>
            <a:off x="1587007" y="2749507"/>
            <a:ext cx="1931377" cy="386861"/>
            <a:chOff x="451338" y="1696914"/>
            <a:chExt cx="1931377" cy="386861"/>
          </a:xfrm>
        </p:grpSpPr>
        <p:sp>
          <p:nvSpPr>
            <p:cNvPr id="26" name="Rectángulo: esquinas redondeadas 25">
              <a:extLst>
                <a:ext uri="{FF2B5EF4-FFF2-40B4-BE49-F238E27FC236}">
                  <a16:creationId xmlns:a16="http://schemas.microsoft.com/office/drawing/2014/main" id="{7B40E005-2095-40D1-965B-F5F801A7E4AB}"/>
                </a:ext>
              </a:extLst>
            </p:cNvPr>
            <p:cNvSpPr/>
            <p:nvPr/>
          </p:nvSpPr>
          <p:spPr>
            <a:xfrm>
              <a:off x="451338" y="1696914"/>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800" dirty="0">
                  <a:solidFill>
                    <a:srgbClr val="00457F"/>
                  </a:solidFill>
                </a:rPr>
                <a:t>        Inflación externa</a:t>
              </a:r>
              <a:endParaRPr lang="es-GT" sz="1000" dirty="0">
                <a:solidFill>
                  <a:srgbClr val="00457F"/>
                </a:solidFill>
              </a:endParaRPr>
            </a:p>
          </p:txBody>
        </p:sp>
        <p:sp>
          <p:nvSpPr>
            <p:cNvPr id="27" name="Elipse 26">
              <a:extLst>
                <a:ext uri="{FF2B5EF4-FFF2-40B4-BE49-F238E27FC236}">
                  <a16:creationId xmlns:a16="http://schemas.microsoft.com/office/drawing/2014/main" id="{DB4AC327-5796-45D1-8521-815A023A5727}"/>
                </a:ext>
              </a:extLst>
            </p:cNvPr>
            <p:cNvSpPr/>
            <p:nvPr/>
          </p:nvSpPr>
          <p:spPr>
            <a:xfrm>
              <a:off x="501161" y="1782344"/>
              <a:ext cx="216000" cy="216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b="1" dirty="0">
                  <a:solidFill>
                    <a:srgbClr val="00457F"/>
                  </a:solidFill>
                </a:rPr>
                <a:t>3</a:t>
              </a:r>
              <a:endParaRPr lang="es-GT" sz="1050" b="1" dirty="0">
                <a:solidFill>
                  <a:srgbClr val="00457F"/>
                </a:solidFill>
              </a:endParaRPr>
            </a:p>
          </p:txBody>
        </p:sp>
      </p:grpSp>
      <p:sp>
        <p:nvSpPr>
          <p:cNvPr id="43" name="Rectángulo: esquinas redondeadas 42">
            <a:extLst>
              <a:ext uri="{FF2B5EF4-FFF2-40B4-BE49-F238E27FC236}">
                <a16:creationId xmlns:a16="http://schemas.microsoft.com/office/drawing/2014/main" id="{4C3DA21D-6D35-467F-A3F5-5CE871EE969E}"/>
              </a:ext>
            </a:extLst>
          </p:cNvPr>
          <p:cNvSpPr/>
          <p:nvPr/>
        </p:nvSpPr>
        <p:spPr>
          <a:xfrm>
            <a:off x="3856891" y="1273623"/>
            <a:ext cx="2074985" cy="2989615"/>
          </a:xfrm>
          <a:prstGeom prst="roundRect">
            <a:avLst>
              <a:gd name="adj" fmla="val 7345"/>
            </a:avLst>
          </a:prstGeom>
          <a:solidFill>
            <a:srgbClr val="F7FBFF"/>
          </a:solid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s-ES" sz="1400" b="1" dirty="0">
                <a:solidFill>
                  <a:srgbClr val="00457F"/>
                </a:solidFill>
              </a:rPr>
              <a:t>Exógenas internas</a:t>
            </a:r>
            <a:endParaRPr lang="es-GT" sz="1400" b="1" dirty="0">
              <a:solidFill>
                <a:srgbClr val="00457F"/>
              </a:solidFill>
            </a:endParaRPr>
          </a:p>
        </p:txBody>
      </p:sp>
      <p:grpSp>
        <p:nvGrpSpPr>
          <p:cNvPr id="11" name="Grupo 10">
            <a:extLst>
              <a:ext uri="{FF2B5EF4-FFF2-40B4-BE49-F238E27FC236}">
                <a16:creationId xmlns:a16="http://schemas.microsoft.com/office/drawing/2014/main" id="{CD20288C-66F5-9AC6-DA9B-2E7E588247E4}"/>
              </a:ext>
            </a:extLst>
          </p:cNvPr>
          <p:cNvGrpSpPr/>
          <p:nvPr/>
        </p:nvGrpSpPr>
        <p:grpSpPr>
          <a:xfrm>
            <a:off x="3928692" y="1734639"/>
            <a:ext cx="1931377" cy="386861"/>
            <a:chOff x="3938952" y="2039468"/>
            <a:chExt cx="1931377" cy="386861"/>
          </a:xfrm>
        </p:grpSpPr>
        <p:sp>
          <p:nvSpPr>
            <p:cNvPr id="54" name="Rectángulo: esquinas redondeadas 53">
              <a:extLst>
                <a:ext uri="{FF2B5EF4-FFF2-40B4-BE49-F238E27FC236}">
                  <a16:creationId xmlns:a16="http://schemas.microsoft.com/office/drawing/2014/main" id="{1C45AE84-BBFE-47FA-B89F-184987A066C0}"/>
                </a:ext>
              </a:extLst>
            </p:cNvPr>
            <p:cNvSpPr/>
            <p:nvPr/>
          </p:nvSpPr>
          <p:spPr>
            <a:xfrm>
              <a:off x="3938952" y="2039468"/>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800" dirty="0">
                  <a:solidFill>
                    <a:srgbClr val="00457F"/>
                  </a:solidFill>
                </a:rPr>
                <a:t>        Inversión pública</a:t>
              </a:r>
              <a:endParaRPr lang="es-GT" sz="1000" dirty="0">
                <a:solidFill>
                  <a:srgbClr val="00457F"/>
                </a:solidFill>
              </a:endParaRPr>
            </a:p>
          </p:txBody>
        </p:sp>
        <p:sp>
          <p:nvSpPr>
            <p:cNvPr id="55" name="Elipse 54">
              <a:extLst>
                <a:ext uri="{FF2B5EF4-FFF2-40B4-BE49-F238E27FC236}">
                  <a16:creationId xmlns:a16="http://schemas.microsoft.com/office/drawing/2014/main" id="{F03BDDE8-FBB3-4808-9CCE-BFD89BE37300}"/>
                </a:ext>
              </a:extLst>
            </p:cNvPr>
            <p:cNvSpPr/>
            <p:nvPr/>
          </p:nvSpPr>
          <p:spPr>
            <a:xfrm>
              <a:off x="3988775" y="2124898"/>
              <a:ext cx="216000" cy="216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b="1" dirty="0">
                  <a:solidFill>
                    <a:srgbClr val="00457F"/>
                  </a:solidFill>
                </a:rPr>
                <a:t>4</a:t>
              </a:r>
              <a:endParaRPr lang="es-GT" sz="1050" b="1" dirty="0">
                <a:solidFill>
                  <a:srgbClr val="00457F"/>
                </a:solidFill>
              </a:endParaRPr>
            </a:p>
          </p:txBody>
        </p:sp>
      </p:grpSp>
      <p:grpSp>
        <p:nvGrpSpPr>
          <p:cNvPr id="56" name="Grupo 55">
            <a:extLst>
              <a:ext uri="{FF2B5EF4-FFF2-40B4-BE49-F238E27FC236}">
                <a16:creationId xmlns:a16="http://schemas.microsoft.com/office/drawing/2014/main" id="{E6782389-A451-4410-8273-DE169C63D5CF}"/>
              </a:ext>
            </a:extLst>
          </p:cNvPr>
          <p:cNvGrpSpPr/>
          <p:nvPr/>
        </p:nvGrpSpPr>
        <p:grpSpPr>
          <a:xfrm>
            <a:off x="3928692" y="2260341"/>
            <a:ext cx="1931377" cy="386861"/>
            <a:chOff x="451338" y="1696914"/>
            <a:chExt cx="1931377" cy="386861"/>
          </a:xfrm>
        </p:grpSpPr>
        <p:sp>
          <p:nvSpPr>
            <p:cNvPr id="57" name="Rectángulo: esquinas redondeadas 56">
              <a:extLst>
                <a:ext uri="{FF2B5EF4-FFF2-40B4-BE49-F238E27FC236}">
                  <a16:creationId xmlns:a16="http://schemas.microsoft.com/office/drawing/2014/main" id="{FF2B7028-0E9F-417E-ACB4-E8DFCBD9A5A2}"/>
                </a:ext>
              </a:extLst>
            </p:cNvPr>
            <p:cNvSpPr/>
            <p:nvPr/>
          </p:nvSpPr>
          <p:spPr>
            <a:xfrm>
              <a:off x="451338" y="1696914"/>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800" dirty="0">
                  <a:solidFill>
                    <a:srgbClr val="00457F"/>
                  </a:solidFill>
                </a:rPr>
                <a:t>        Ingresos totales del gobierno</a:t>
              </a:r>
              <a:endParaRPr lang="es-GT" sz="1000" dirty="0">
                <a:solidFill>
                  <a:srgbClr val="00457F"/>
                </a:solidFill>
              </a:endParaRPr>
            </a:p>
          </p:txBody>
        </p:sp>
        <p:sp>
          <p:nvSpPr>
            <p:cNvPr id="58" name="Elipse 57">
              <a:extLst>
                <a:ext uri="{FF2B5EF4-FFF2-40B4-BE49-F238E27FC236}">
                  <a16:creationId xmlns:a16="http://schemas.microsoft.com/office/drawing/2014/main" id="{CD00364A-2E10-4894-AC80-4B9F6C6FC01D}"/>
                </a:ext>
              </a:extLst>
            </p:cNvPr>
            <p:cNvSpPr/>
            <p:nvPr/>
          </p:nvSpPr>
          <p:spPr>
            <a:xfrm>
              <a:off x="501161" y="1782344"/>
              <a:ext cx="216000" cy="216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b="1" dirty="0">
                  <a:solidFill>
                    <a:srgbClr val="00457F"/>
                  </a:solidFill>
                </a:rPr>
                <a:t>5</a:t>
              </a:r>
              <a:endParaRPr lang="es-GT" sz="1050" b="1" dirty="0">
                <a:solidFill>
                  <a:srgbClr val="00457F"/>
                </a:solidFill>
              </a:endParaRPr>
            </a:p>
          </p:txBody>
        </p:sp>
      </p:grpSp>
      <p:grpSp>
        <p:nvGrpSpPr>
          <p:cNvPr id="59" name="Grupo 58">
            <a:extLst>
              <a:ext uri="{FF2B5EF4-FFF2-40B4-BE49-F238E27FC236}">
                <a16:creationId xmlns:a16="http://schemas.microsoft.com/office/drawing/2014/main" id="{FBD7B1E3-E1FB-4855-8898-2F52534A912F}"/>
              </a:ext>
            </a:extLst>
          </p:cNvPr>
          <p:cNvGrpSpPr/>
          <p:nvPr/>
        </p:nvGrpSpPr>
        <p:grpSpPr>
          <a:xfrm>
            <a:off x="3928691" y="2786043"/>
            <a:ext cx="1931377" cy="386861"/>
            <a:chOff x="451338" y="1696914"/>
            <a:chExt cx="1931377" cy="386861"/>
          </a:xfrm>
        </p:grpSpPr>
        <p:sp>
          <p:nvSpPr>
            <p:cNvPr id="60" name="Rectángulo: esquinas redondeadas 59">
              <a:extLst>
                <a:ext uri="{FF2B5EF4-FFF2-40B4-BE49-F238E27FC236}">
                  <a16:creationId xmlns:a16="http://schemas.microsoft.com/office/drawing/2014/main" id="{C645E033-3CA7-4E95-8BD2-EA29863564C1}"/>
                </a:ext>
              </a:extLst>
            </p:cNvPr>
            <p:cNvSpPr/>
            <p:nvPr/>
          </p:nvSpPr>
          <p:spPr>
            <a:xfrm>
              <a:off x="451338" y="1696914"/>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800" dirty="0">
                  <a:solidFill>
                    <a:srgbClr val="00457F"/>
                  </a:solidFill>
                </a:rPr>
                <a:t>        Gasto de funcionamiento</a:t>
              </a:r>
              <a:endParaRPr lang="es-GT" sz="1000" dirty="0">
                <a:solidFill>
                  <a:srgbClr val="00457F"/>
                </a:solidFill>
              </a:endParaRPr>
            </a:p>
          </p:txBody>
        </p:sp>
        <p:sp>
          <p:nvSpPr>
            <p:cNvPr id="61" name="Elipse 60">
              <a:extLst>
                <a:ext uri="{FF2B5EF4-FFF2-40B4-BE49-F238E27FC236}">
                  <a16:creationId xmlns:a16="http://schemas.microsoft.com/office/drawing/2014/main" id="{89F9108E-CA7E-445B-8800-9666893C0D36}"/>
                </a:ext>
              </a:extLst>
            </p:cNvPr>
            <p:cNvSpPr/>
            <p:nvPr/>
          </p:nvSpPr>
          <p:spPr>
            <a:xfrm>
              <a:off x="501161" y="1782344"/>
              <a:ext cx="216000" cy="216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b="1" dirty="0">
                  <a:solidFill>
                    <a:srgbClr val="00457F"/>
                  </a:solidFill>
                </a:rPr>
                <a:t>6</a:t>
              </a:r>
              <a:endParaRPr lang="es-GT" sz="1050" b="1" dirty="0">
                <a:solidFill>
                  <a:srgbClr val="00457F"/>
                </a:solidFill>
              </a:endParaRPr>
            </a:p>
          </p:txBody>
        </p:sp>
      </p:grpSp>
      <p:grpSp>
        <p:nvGrpSpPr>
          <p:cNvPr id="62" name="Grupo 61">
            <a:extLst>
              <a:ext uri="{FF2B5EF4-FFF2-40B4-BE49-F238E27FC236}">
                <a16:creationId xmlns:a16="http://schemas.microsoft.com/office/drawing/2014/main" id="{6A237948-C993-4251-8F07-52DB2F7834EE}"/>
              </a:ext>
            </a:extLst>
          </p:cNvPr>
          <p:cNvGrpSpPr/>
          <p:nvPr/>
        </p:nvGrpSpPr>
        <p:grpSpPr>
          <a:xfrm>
            <a:off x="3928690" y="3260702"/>
            <a:ext cx="1931377" cy="386861"/>
            <a:chOff x="451338" y="1696914"/>
            <a:chExt cx="1931377" cy="386861"/>
          </a:xfrm>
        </p:grpSpPr>
        <p:sp>
          <p:nvSpPr>
            <p:cNvPr id="63" name="Rectángulo: esquinas redondeadas 62">
              <a:extLst>
                <a:ext uri="{FF2B5EF4-FFF2-40B4-BE49-F238E27FC236}">
                  <a16:creationId xmlns:a16="http://schemas.microsoft.com/office/drawing/2014/main" id="{FD5530B6-DB4D-4990-B22C-919B401B3847}"/>
                </a:ext>
              </a:extLst>
            </p:cNvPr>
            <p:cNvSpPr/>
            <p:nvPr/>
          </p:nvSpPr>
          <p:spPr>
            <a:xfrm>
              <a:off x="451338" y="1696914"/>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800" dirty="0">
                  <a:solidFill>
                    <a:srgbClr val="00457F"/>
                  </a:solidFill>
                </a:rPr>
                <a:t>        Deuda pública externa</a:t>
              </a:r>
              <a:endParaRPr lang="es-GT" sz="1000" dirty="0">
                <a:solidFill>
                  <a:srgbClr val="00457F"/>
                </a:solidFill>
              </a:endParaRPr>
            </a:p>
          </p:txBody>
        </p:sp>
        <p:sp>
          <p:nvSpPr>
            <p:cNvPr id="64" name="Elipse 63">
              <a:extLst>
                <a:ext uri="{FF2B5EF4-FFF2-40B4-BE49-F238E27FC236}">
                  <a16:creationId xmlns:a16="http://schemas.microsoft.com/office/drawing/2014/main" id="{56DF07E2-7553-41B2-AC0A-A7E44E987A4E}"/>
                </a:ext>
              </a:extLst>
            </p:cNvPr>
            <p:cNvSpPr/>
            <p:nvPr/>
          </p:nvSpPr>
          <p:spPr>
            <a:xfrm>
              <a:off x="501161" y="1782344"/>
              <a:ext cx="216000" cy="216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b="1" dirty="0">
                  <a:solidFill>
                    <a:srgbClr val="00457F"/>
                  </a:solidFill>
                </a:rPr>
                <a:t>7</a:t>
              </a:r>
              <a:endParaRPr lang="es-GT" sz="1050" b="1" dirty="0">
                <a:solidFill>
                  <a:srgbClr val="00457F"/>
                </a:solidFill>
              </a:endParaRPr>
            </a:p>
          </p:txBody>
        </p:sp>
      </p:grpSp>
      <p:grpSp>
        <p:nvGrpSpPr>
          <p:cNvPr id="66" name="Grupo 65">
            <a:extLst>
              <a:ext uri="{FF2B5EF4-FFF2-40B4-BE49-F238E27FC236}">
                <a16:creationId xmlns:a16="http://schemas.microsoft.com/office/drawing/2014/main" id="{3841DEA0-92EF-48C7-B5B2-FF4506EC0EBC}"/>
              </a:ext>
            </a:extLst>
          </p:cNvPr>
          <p:cNvGrpSpPr/>
          <p:nvPr/>
        </p:nvGrpSpPr>
        <p:grpSpPr>
          <a:xfrm>
            <a:off x="3928690" y="3728500"/>
            <a:ext cx="1931377" cy="386861"/>
            <a:chOff x="451338" y="1696914"/>
            <a:chExt cx="1931377" cy="386861"/>
          </a:xfrm>
        </p:grpSpPr>
        <p:sp>
          <p:nvSpPr>
            <p:cNvPr id="67" name="Rectángulo: esquinas redondeadas 66">
              <a:extLst>
                <a:ext uri="{FF2B5EF4-FFF2-40B4-BE49-F238E27FC236}">
                  <a16:creationId xmlns:a16="http://schemas.microsoft.com/office/drawing/2014/main" id="{366EF2A1-1162-4D52-BC23-0FDA1BB27672}"/>
                </a:ext>
              </a:extLst>
            </p:cNvPr>
            <p:cNvSpPr/>
            <p:nvPr/>
          </p:nvSpPr>
          <p:spPr>
            <a:xfrm>
              <a:off x="451338" y="1696914"/>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800" dirty="0">
                  <a:solidFill>
                    <a:srgbClr val="00457F"/>
                  </a:solidFill>
                </a:rPr>
                <a:t>        Remesas</a:t>
              </a:r>
              <a:endParaRPr lang="es-GT" sz="1000" dirty="0">
                <a:solidFill>
                  <a:srgbClr val="00457F"/>
                </a:solidFill>
              </a:endParaRPr>
            </a:p>
          </p:txBody>
        </p:sp>
        <p:sp>
          <p:nvSpPr>
            <p:cNvPr id="68" name="Elipse 67">
              <a:extLst>
                <a:ext uri="{FF2B5EF4-FFF2-40B4-BE49-F238E27FC236}">
                  <a16:creationId xmlns:a16="http://schemas.microsoft.com/office/drawing/2014/main" id="{C7F6024D-5730-4B51-B5B8-D3A31ACFA0EE}"/>
                </a:ext>
              </a:extLst>
            </p:cNvPr>
            <p:cNvSpPr/>
            <p:nvPr/>
          </p:nvSpPr>
          <p:spPr>
            <a:xfrm>
              <a:off x="501161" y="1782344"/>
              <a:ext cx="216000" cy="216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b="1" dirty="0">
                  <a:solidFill>
                    <a:srgbClr val="00457F"/>
                  </a:solidFill>
                </a:rPr>
                <a:t>8</a:t>
              </a:r>
              <a:endParaRPr lang="es-GT" sz="1050" b="1" dirty="0">
                <a:solidFill>
                  <a:srgbClr val="00457F"/>
                </a:solidFill>
              </a:endParaRPr>
            </a:p>
          </p:txBody>
        </p:sp>
      </p:grpSp>
      <p:grpSp>
        <p:nvGrpSpPr>
          <p:cNvPr id="21" name="Grupo 20">
            <a:extLst>
              <a:ext uri="{FF2B5EF4-FFF2-40B4-BE49-F238E27FC236}">
                <a16:creationId xmlns:a16="http://schemas.microsoft.com/office/drawing/2014/main" id="{F7AE4F5D-1666-288A-393C-612AC4285A30}"/>
              </a:ext>
            </a:extLst>
          </p:cNvPr>
          <p:cNvGrpSpPr/>
          <p:nvPr/>
        </p:nvGrpSpPr>
        <p:grpSpPr>
          <a:xfrm>
            <a:off x="6198576" y="1273623"/>
            <a:ext cx="4437183" cy="2948051"/>
            <a:chOff x="6195646" y="1344879"/>
            <a:chExt cx="4437183" cy="2948051"/>
          </a:xfrm>
        </p:grpSpPr>
        <p:sp>
          <p:nvSpPr>
            <p:cNvPr id="69" name="Rectángulo: esquinas redondeadas 68">
              <a:extLst>
                <a:ext uri="{FF2B5EF4-FFF2-40B4-BE49-F238E27FC236}">
                  <a16:creationId xmlns:a16="http://schemas.microsoft.com/office/drawing/2014/main" id="{A63D579D-B3C2-460B-B20E-CA929B70CA0A}"/>
                </a:ext>
              </a:extLst>
            </p:cNvPr>
            <p:cNvSpPr/>
            <p:nvPr/>
          </p:nvSpPr>
          <p:spPr>
            <a:xfrm>
              <a:off x="6195646" y="1344879"/>
              <a:ext cx="4437183" cy="2948051"/>
            </a:xfrm>
            <a:prstGeom prst="roundRect">
              <a:avLst>
                <a:gd name="adj" fmla="val 7345"/>
              </a:avLst>
            </a:prstGeom>
            <a:solidFill>
              <a:srgbClr val="F7FBFF"/>
            </a:solid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s-ES" sz="1400" b="1" dirty="0">
                  <a:solidFill>
                    <a:srgbClr val="00457F"/>
                  </a:solidFill>
                </a:rPr>
                <a:t>Endógenas</a:t>
              </a:r>
              <a:endParaRPr lang="es-GT" sz="1400" b="1" dirty="0">
                <a:solidFill>
                  <a:srgbClr val="00457F"/>
                </a:solidFill>
              </a:endParaRPr>
            </a:p>
          </p:txBody>
        </p:sp>
        <p:grpSp>
          <p:nvGrpSpPr>
            <p:cNvPr id="70" name="Grupo 69">
              <a:extLst>
                <a:ext uri="{FF2B5EF4-FFF2-40B4-BE49-F238E27FC236}">
                  <a16:creationId xmlns:a16="http://schemas.microsoft.com/office/drawing/2014/main" id="{4C343F74-8952-45DA-B551-D0FBF65960D3}"/>
                </a:ext>
              </a:extLst>
            </p:cNvPr>
            <p:cNvGrpSpPr/>
            <p:nvPr/>
          </p:nvGrpSpPr>
          <p:grpSpPr>
            <a:xfrm>
              <a:off x="6276240" y="1805897"/>
              <a:ext cx="1931377" cy="386861"/>
              <a:chOff x="451338" y="1696914"/>
              <a:chExt cx="1931377" cy="386861"/>
            </a:xfrm>
          </p:grpSpPr>
          <p:sp>
            <p:nvSpPr>
              <p:cNvPr id="71" name="Rectángulo: esquinas redondeadas 70">
                <a:extLst>
                  <a:ext uri="{FF2B5EF4-FFF2-40B4-BE49-F238E27FC236}">
                    <a16:creationId xmlns:a16="http://schemas.microsoft.com/office/drawing/2014/main" id="{A2A980DA-9FDA-46AD-A46E-53A7A387642A}"/>
                  </a:ext>
                </a:extLst>
              </p:cNvPr>
              <p:cNvSpPr/>
              <p:nvPr/>
            </p:nvSpPr>
            <p:spPr>
              <a:xfrm>
                <a:off x="451338" y="1696914"/>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800" dirty="0">
                    <a:solidFill>
                      <a:srgbClr val="00457F"/>
                    </a:solidFill>
                  </a:rPr>
                  <a:t>        Deuda pública interna</a:t>
                </a:r>
                <a:endParaRPr lang="es-GT" sz="1000" dirty="0">
                  <a:solidFill>
                    <a:srgbClr val="00457F"/>
                  </a:solidFill>
                </a:endParaRPr>
              </a:p>
            </p:txBody>
          </p:sp>
          <p:sp>
            <p:nvSpPr>
              <p:cNvPr id="72" name="Elipse 71">
                <a:extLst>
                  <a:ext uri="{FF2B5EF4-FFF2-40B4-BE49-F238E27FC236}">
                    <a16:creationId xmlns:a16="http://schemas.microsoft.com/office/drawing/2014/main" id="{098230E7-675F-44EF-A29D-79E5B000B11B}"/>
                  </a:ext>
                </a:extLst>
              </p:cNvPr>
              <p:cNvSpPr/>
              <p:nvPr/>
            </p:nvSpPr>
            <p:spPr>
              <a:xfrm>
                <a:off x="501161" y="1782344"/>
                <a:ext cx="216000" cy="216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b="1" dirty="0">
                    <a:solidFill>
                      <a:srgbClr val="00457F"/>
                    </a:solidFill>
                  </a:rPr>
                  <a:t>9</a:t>
                </a:r>
                <a:endParaRPr lang="es-GT" sz="1050" b="1" dirty="0">
                  <a:solidFill>
                    <a:srgbClr val="00457F"/>
                  </a:solidFill>
                </a:endParaRPr>
              </a:p>
            </p:txBody>
          </p:sp>
        </p:grpSp>
        <p:grpSp>
          <p:nvGrpSpPr>
            <p:cNvPr id="10" name="Grupo 9">
              <a:extLst>
                <a:ext uri="{FF2B5EF4-FFF2-40B4-BE49-F238E27FC236}">
                  <a16:creationId xmlns:a16="http://schemas.microsoft.com/office/drawing/2014/main" id="{CF2590CF-56BA-46D9-A3A9-D2813B971892}"/>
                </a:ext>
              </a:extLst>
            </p:cNvPr>
            <p:cNvGrpSpPr/>
            <p:nvPr/>
          </p:nvGrpSpPr>
          <p:grpSpPr>
            <a:xfrm>
              <a:off x="6267447" y="2307621"/>
              <a:ext cx="1931377" cy="386861"/>
              <a:chOff x="5121520" y="2345045"/>
              <a:chExt cx="1931377" cy="386861"/>
            </a:xfrm>
          </p:grpSpPr>
          <p:sp>
            <p:nvSpPr>
              <p:cNvPr id="74" name="Rectángulo: esquinas redondeadas 73">
                <a:extLst>
                  <a:ext uri="{FF2B5EF4-FFF2-40B4-BE49-F238E27FC236}">
                    <a16:creationId xmlns:a16="http://schemas.microsoft.com/office/drawing/2014/main" id="{843F466E-B6F8-4051-BA1F-CB657699EAF6}"/>
                  </a:ext>
                </a:extLst>
              </p:cNvPr>
              <p:cNvSpPr/>
              <p:nvPr/>
            </p:nvSpPr>
            <p:spPr>
              <a:xfrm>
                <a:off x="5121520" y="2345045"/>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900" dirty="0">
                    <a:solidFill>
                      <a:srgbClr val="00457F"/>
                    </a:solidFill>
                  </a:rPr>
                  <a:t>           </a:t>
                </a:r>
                <a:r>
                  <a:rPr lang="es-ES" sz="800" dirty="0">
                    <a:solidFill>
                      <a:srgbClr val="00457F"/>
                    </a:solidFill>
                  </a:rPr>
                  <a:t>Activos externos netos</a:t>
                </a:r>
                <a:endParaRPr lang="es-GT" sz="900" dirty="0">
                  <a:solidFill>
                    <a:srgbClr val="00457F"/>
                  </a:solidFill>
                </a:endParaRPr>
              </a:p>
            </p:txBody>
          </p:sp>
          <p:grpSp>
            <p:nvGrpSpPr>
              <p:cNvPr id="9" name="Grupo 8">
                <a:extLst>
                  <a:ext uri="{FF2B5EF4-FFF2-40B4-BE49-F238E27FC236}">
                    <a16:creationId xmlns:a16="http://schemas.microsoft.com/office/drawing/2014/main" id="{2F03FC25-A980-4709-85D6-684267564E15}"/>
                  </a:ext>
                </a:extLst>
              </p:cNvPr>
              <p:cNvGrpSpPr/>
              <p:nvPr/>
            </p:nvGrpSpPr>
            <p:grpSpPr>
              <a:xfrm>
                <a:off x="5162549" y="2379664"/>
                <a:ext cx="368309" cy="324000"/>
                <a:chOff x="7742284" y="2070475"/>
                <a:chExt cx="368309" cy="324000"/>
              </a:xfrm>
            </p:grpSpPr>
            <p:sp>
              <p:nvSpPr>
                <p:cNvPr id="75" name="Elipse 74">
                  <a:extLst>
                    <a:ext uri="{FF2B5EF4-FFF2-40B4-BE49-F238E27FC236}">
                      <a16:creationId xmlns:a16="http://schemas.microsoft.com/office/drawing/2014/main" id="{CBB2EE32-500C-47CB-A389-57F36D3C3B9D}"/>
                    </a:ext>
                  </a:extLst>
                </p:cNvPr>
                <p:cNvSpPr/>
                <p:nvPr/>
              </p:nvSpPr>
              <p:spPr>
                <a:xfrm>
                  <a:off x="7742284" y="2070475"/>
                  <a:ext cx="324000" cy="324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1050" dirty="0">
                    <a:solidFill>
                      <a:srgbClr val="00457F"/>
                    </a:solidFill>
                  </a:endParaRPr>
                </a:p>
              </p:txBody>
            </p:sp>
            <p:sp>
              <p:nvSpPr>
                <p:cNvPr id="8" name="CuadroTexto 7">
                  <a:extLst>
                    <a:ext uri="{FF2B5EF4-FFF2-40B4-BE49-F238E27FC236}">
                      <a16:creationId xmlns:a16="http://schemas.microsoft.com/office/drawing/2014/main" id="{7AA30095-CED5-4B6C-91EF-89E3E6F302C3}"/>
                    </a:ext>
                  </a:extLst>
                </p:cNvPr>
                <p:cNvSpPr txBox="1"/>
                <p:nvPr/>
              </p:nvSpPr>
              <p:spPr>
                <a:xfrm>
                  <a:off x="7750593" y="2129588"/>
                  <a:ext cx="360000" cy="215444"/>
                </a:xfrm>
                <a:prstGeom prst="rect">
                  <a:avLst/>
                </a:prstGeom>
                <a:noFill/>
              </p:spPr>
              <p:txBody>
                <a:bodyPr wrap="square" rtlCol="0">
                  <a:spAutoFit/>
                </a:bodyPr>
                <a:lstStyle/>
                <a:p>
                  <a:r>
                    <a:rPr lang="es-ES" sz="800" b="1" dirty="0">
                      <a:solidFill>
                        <a:srgbClr val="00457F"/>
                      </a:solidFill>
                    </a:rPr>
                    <a:t>10</a:t>
                  </a:r>
                  <a:endParaRPr lang="es-GT" b="1" dirty="0">
                    <a:solidFill>
                      <a:srgbClr val="00457F"/>
                    </a:solidFill>
                  </a:endParaRPr>
                </a:p>
              </p:txBody>
            </p:sp>
          </p:grpSp>
        </p:grpSp>
        <p:grpSp>
          <p:nvGrpSpPr>
            <p:cNvPr id="85" name="Grupo 84">
              <a:extLst>
                <a:ext uri="{FF2B5EF4-FFF2-40B4-BE49-F238E27FC236}">
                  <a16:creationId xmlns:a16="http://schemas.microsoft.com/office/drawing/2014/main" id="{DBD0764D-A823-48FC-B075-A59788A598E5}"/>
                </a:ext>
              </a:extLst>
            </p:cNvPr>
            <p:cNvGrpSpPr/>
            <p:nvPr/>
          </p:nvGrpSpPr>
          <p:grpSpPr>
            <a:xfrm>
              <a:off x="6267446" y="2788214"/>
              <a:ext cx="1931377" cy="386861"/>
              <a:chOff x="5121520" y="2345045"/>
              <a:chExt cx="1931377" cy="386861"/>
            </a:xfrm>
          </p:grpSpPr>
          <p:sp>
            <p:nvSpPr>
              <p:cNvPr id="86" name="Rectángulo: esquinas redondeadas 85">
                <a:extLst>
                  <a:ext uri="{FF2B5EF4-FFF2-40B4-BE49-F238E27FC236}">
                    <a16:creationId xmlns:a16="http://schemas.microsoft.com/office/drawing/2014/main" id="{DC96DC20-8B18-423B-ABF7-3D925A44D866}"/>
                  </a:ext>
                </a:extLst>
              </p:cNvPr>
              <p:cNvSpPr/>
              <p:nvPr/>
            </p:nvSpPr>
            <p:spPr>
              <a:xfrm>
                <a:off x="5121520" y="2345045"/>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900" dirty="0">
                    <a:solidFill>
                      <a:srgbClr val="00457F"/>
                    </a:solidFill>
                  </a:rPr>
                  <a:t>           </a:t>
                </a:r>
                <a:r>
                  <a:rPr lang="es-ES" sz="800" dirty="0">
                    <a:solidFill>
                      <a:srgbClr val="00457F"/>
                    </a:solidFill>
                  </a:rPr>
                  <a:t>Activos internos netos</a:t>
                </a:r>
                <a:endParaRPr lang="es-GT" sz="900" dirty="0">
                  <a:solidFill>
                    <a:srgbClr val="00457F"/>
                  </a:solidFill>
                </a:endParaRPr>
              </a:p>
            </p:txBody>
          </p:sp>
          <p:grpSp>
            <p:nvGrpSpPr>
              <p:cNvPr id="87" name="Grupo 86">
                <a:extLst>
                  <a:ext uri="{FF2B5EF4-FFF2-40B4-BE49-F238E27FC236}">
                    <a16:creationId xmlns:a16="http://schemas.microsoft.com/office/drawing/2014/main" id="{4456A105-21C0-48AC-8C44-7416D7B878A3}"/>
                  </a:ext>
                </a:extLst>
              </p:cNvPr>
              <p:cNvGrpSpPr/>
              <p:nvPr/>
            </p:nvGrpSpPr>
            <p:grpSpPr>
              <a:xfrm>
                <a:off x="5162549" y="2379664"/>
                <a:ext cx="368309" cy="324000"/>
                <a:chOff x="7742284" y="2070475"/>
                <a:chExt cx="368309" cy="324000"/>
              </a:xfrm>
            </p:grpSpPr>
            <p:sp>
              <p:nvSpPr>
                <p:cNvPr id="88" name="Elipse 87">
                  <a:extLst>
                    <a:ext uri="{FF2B5EF4-FFF2-40B4-BE49-F238E27FC236}">
                      <a16:creationId xmlns:a16="http://schemas.microsoft.com/office/drawing/2014/main" id="{7257BD52-8A96-4111-B55D-1EC576AF3463}"/>
                    </a:ext>
                  </a:extLst>
                </p:cNvPr>
                <p:cNvSpPr/>
                <p:nvPr/>
              </p:nvSpPr>
              <p:spPr>
                <a:xfrm>
                  <a:off x="7742284" y="2070475"/>
                  <a:ext cx="324000" cy="324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1050" dirty="0">
                    <a:solidFill>
                      <a:srgbClr val="00457F"/>
                    </a:solidFill>
                  </a:endParaRPr>
                </a:p>
              </p:txBody>
            </p:sp>
            <p:sp>
              <p:nvSpPr>
                <p:cNvPr id="89" name="CuadroTexto 88">
                  <a:extLst>
                    <a:ext uri="{FF2B5EF4-FFF2-40B4-BE49-F238E27FC236}">
                      <a16:creationId xmlns:a16="http://schemas.microsoft.com/office/drawing/2014/main" id="{99F2549F-C247-4B84-8B2D-636D1A922937}"/>
                    </a:ext>
                  </a:extLst>
                </p:cNvPr>
                <p:cNvSpPr txBox="1"/>
                <p:nvPr/>
              </p:nvSpPr>
              <p:spPr>
                <a:xfrm>
                  <a:off x="7750593" y="2129588"/>
                  <a:ext cx="360000" cy="215444"/>
                </a:xfrm>
                <a:prstGeom prst="rect">
                  <a:avLst/>
                </a:prstGeom>
                <a:noFill/>
              </p:spPr>
              <p:txBody>
                <a:bodyPr wrap="square" rtlCol="0">
                  <a:spAutoFit/>
                </a:bodyPr>
                <a:lstStyle/>
                <a:p>
                  <a:r>
                    <a:rPr lang="es-ES" sz="800" b="1" dirty="0">
                      <a:solidFill>
                        <a:srgbClr val="00457F"/>
                      </a:solidFill>
                    </a:rPr>
                    <a:t>11</a:t>
                  </a:r>
                  <a:endParaRPr lang="es-GT" b="1" dirty="0">
                    <a:solidFill>
                      <a:srgbClr val="00457F"/>
                    </a:solidFill>
                  </a:endParaRPr>
                </a:p>
              </p:txBody>
            </p:sp>
          </p:grpSp>
        </p:grpSp>
        <p:grpSp>
          <p:nvGrpSpPr>
            <p:cNvPr id="90" name="Grupo 89">
              <a:extLst>
                <a:ext uri="{FF2B5EF4-FFF2-40B4-BE49-F238E27FC236}">
                  <a16:creationId xmlns:a16="http://schemas.microsoft.com/office/drawing/2014/main" id="{2620496C-22CA-4353-AD27-BE05E5C089DD}"/>
                </a:ext>
              </a:extLst>
            </p:cNvPr>
            <p:cNvGrpSpPr/>
            <p:nvPr/>
          </p:nvGrpSpPr>
          <p:grpSpPr>
            <a:xfrm>
              <a:off x="6267445" y="3265723"/>
              <a:ext cx="1931377" cy="386861"/>
              <a:chOff x="5121520" y="2345045"/>
              <a:chExt cx="1931377" cy="386861"/>
            </a:xfrm>
          </p:grpSpPr>
          <p:sp>
            <p:nvSpPr>
              <p:cNvPr id="91" name="Rectángulo: esquinas redondeadas 90">
                <a:extLst>
                  <a:ext uri="{FF2B5EF4-FFF2-40B4-BE49-F238E27FC236}">
                    <a16:creationId xmlns:a16="http://schemas.microsoft.com/office/drawing/2014/main" id="{FF12F40F-73C1-48A2-AD3B-003C0B3DDEDE}"/>
                  </a:ext>
                </a:extLst>
              </p:cNvPr>
              <p:cNvSpPr/>
              <p:nvPr/>
            </p:nvSpPr>
            <p:spPr>
              <a:xfrm>
                <a:off x="5121520" y="2345045"/>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900" dirty="0">
                    <a:solidFill>
                      <a:srgbClr val="00457F"/>
                    </a:solidFill>
                  </a:rPr>
                  <a:t>           </a:t>
                </a:r>
                <a:r>
                  <a:rPr lang="es-ES" sz="800" dirty="0">
                    <a:solidFill>
                      <a:srgbClr val="00457F"/>
                    </a:solidFill>
                  </a:rPr>
                  <a:t>Tasa de interés líder de PM</a:t>
                </a:r>
                <a:endParaRPr lang="es-GT" sz="900" dirty="0">
                  <a:solidFill>
                    <a:srgbClr val="00457F"/>
                  </a:solidFill>
                </a:endParaRPr>
              </a:p>
            </p:txBody>
          </p:sp>
          <p:grpSp>
            <p:nvGrpSpPr>
              <p:cNvPr id="92" name="Grupo 91">
                <a:extLst>
                  <a:ext uri="{FF2B5EF4-FFF2-40B4-BE49-F238E27FC236}">
                    <a16:creationId xmlns:a16="http://schemas.microsoft.com/office/drawing/2014/main" id="{06FAE8F7-9AFD-4A1C-A434-DE10A5CA0DB0}"/>
                  </a:ext>
                </a:extLst>
              </p:cNvPr>
              <p:cNvGrpSpPr/>
              <p:nvPr/>
            </p:nvGrpSpPr>
            <p:grpSpPr>
              <a:xfrm>
                <a:off x="5162549" y="2379664"/>
                <a:ext cx="368309" cy="324000"/>
                <a:chOff x="7742284" y="2070475"/>
                <a:chExt cx="368309" cy="324000"/>
              </a:xfrm>
            </p:grpSpPr>
            <p:sp>
              <p:nvSpPr>
                <p:cNvPr id="93" name="Elipse 92">
                  <a:extLst>
                    <a:ext uri="{FF2B5EF4-FFF2-40B4-BE49-F238E27FC236}">
                      <a16:creationId xmlns:a16="http://schemas.microsoft.com/office/drawing/2014/main" id="{32CB5243-CF95-45CD-BE49-73C14032ADF5}"/>
                    </a:ext>
                  </a:extLst>
                </p:cNvPr>
                <p:cNvSpPr/>
                <p:nvPr/>
              </p:nvSpPr>
              <p:spPr>
                <a:xfrm>
                  <a:off x="7742284" y="2070475"/>
                  <a:ext cx="324000" cy="324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1050" dirty="0">
                    <a:solidFill>
                      <a:srgbClr val="00457F"/>
                    </a:solidFill>
                  </a:endParaRPr>
                </a:p>
              </p:txBody>
            </p:sp>
            <p:sp>
              <p:nvSpPr>
                <p:cNvPr id="94" name="CuadroTexto 93">
                  <a:extLst>
                    <a:ext uri="{FF2B5EF4-FFF2-40B4-BE49-F238E27FC236}">
                      <a16:creationId xmlns:a16="http://schemas.microsoft.com/office/drawing/2014/main" id="{3145C765-C6F9-46D9-A57F-42F3EEB037F7}"/>
                    </a:ext>
                  </a:extLst>
                </p:cNvPr>
                <p:cNvSpPr txBox="1"/>
                <p:nvPr/>
              </p:nvSpPr>
              <p:spPr>
                <a:xfrm>
                  <a:off x="7750593" y="2129588"/>
                  <a:ext cx="360000" cy="215444"/>
                </a:xfrm>
                <a:prstGeom prst="rect">
                  <a:avLst/>
                </a:prstGeom>
                <a:noFill/>
              </p:spPr>
              <p:txBody>
                <a:bodyPr wrap="square" rtlCol="0">
                  <a:spAutoFit/>
                </a:bodyPr>
                <a:lstStyle/>
                <a:p>
                  <a:r>
                    <a:rPr lang="es-ES" sz="800" b="1" dirty="0">
                      <a:solidFill>
                        <a:srgbClr val="00457F"/>
                      </a:solidFill>
                    </a:rPr>
                    <a:t>12</a:t>
                  </a:r>
                  <a:endParaRPr lang="es-GT" b="1" dirty="0">
                    <a:solidFill>
                      <a:srgbClr val="00457F"/>
                    </a:solidFill>
                  </a:endParaRPr>
                </a:p>
              </p:txBody>
            </p:sp>
          </p:grpSp>
        </p:grpSp>
        <p:grpSp>
          <p:nvGrpSpPr>
            <p:cNvPr id="95" name="Grupo 94">
              <a:extLst>
                <a:ext uri="{FF2B5EF4-FFF2-40B4-BE49-F238E27FC236}">
                  <a16:creationId xmlns:a16="http://schemas.microsoft.com/office/drawing/2014/main" id="{4E075AEF-E600-4EBB-BFC7-BC245E183EBC}"/>
                </a:ext>
              </a:extLst>
            </p:cNvPr>
            <p:cNvGrpSpPr/>
            <p:nvPr/>
          </p:nvGrpSpPr>
          <p:grpSpPr>
            <a:xfrm>
              <a:off x="6267444" y="3770842"/>
              <a:ext cx="1931377" cy="386861"/>
              <a:chOff x="5121520" y="2345045"/>
              <a:chExt cx="1931377" cy="386861"/>
            </a:xfrm>
          </p:grpSpPr>
          <p:sp>
            <p:nvSpPr>
              <p:cNvPr id="96" name="Rectángulo: esquinas redondeadas 95">
                <a:extLst>
                  <a:ext uri="{FF2B5EF4-FFF2-40B4-BE49-F238E27FC236}">
                    <a16:creationId xmlns:a16="http://schemas.microsoft.com/office/drawing/2014/main" id="{356C1628-D413-4D54-8554-C134E41EF208}"/>
                  </a:ext>
                </a:extLst>
              </p:cNvPr>
              <p:cNvSpPr/>
              <p:nvPr/>
            </p:nvSpPr>
            <p:spPr>
              <a:xfrm>
                <a:off x="5121520" y="2345045"/>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900" dirty="0">
                    <a:solidFill>
                      <a:srgbClr val="00457F"/>
                    </a:solidFill>
                  </a:rPr>
                  <a:t>           </a:t>
                </a:r>
                <a:r>
                  <a:rPr lang="es-ES" sz="800" dirty="0">
                    <a:solidFill>
                      <a:srgbClr val="00457F"/>
                    </a:solidFill>
                  </a:rPr>
                  <a:t>Depreciación nominal</a:t>
                </a:r>
                <a:endParaRPr lang="es-GT" sz="900" dirty="0">
                  <a:solidFill>
                    <a:srgbClr val="00457F"/>
                  </a:solidFill>
                </a:endParaRPr>
              </a:p>
            </p:txBody>
          </p:sp>
          <p:grpSp>
            <p:nvGrpSpPr>
              <p:cNvPr id="97" name="Grupo 96">
                <a:extLst>
                  <a:ext uri="{FF2B5EF4-FFF2-40B4-BE49-F238E27FC236}">
                    <a16:creationId xmlns:a16="http://schemas.microsoft.com/office/drawing/2014/main" id="{D22455D9-30F6-4D00-8B0F-05E98756094E}"/>
                  </a:ext>
                </a:extLst>
              </p:cNvPr>
              <p:cNvGrpSpPr/>
              <p:nvPr/>
            </p:nvGrpSpPr>
            <p:grpSpPr>
              <a:xfrm>
                <a:off x="5162549" y="2379664"/>
                <a:ext cx="368309" cy="324000"/>
                <a:chOff x="7742284" y="2070475"/>
                <a:chExt cx="368309" cy="324000"/>
              </a:xfrm>
            </p:grpSpPr>
            <p:sp>
              <p:nvSpPr>
                <p:cNvPr id="98" name="Elipse 97">
                  <a:extLst>
                    <a:ext uri="{FF2B5EF4-FFF2-40B4-BE49-F238E27FC236}">
                      <a16:creationId xmlns:a16="http://schemas.microsoft.com/office/drawing/2014/main" id="{739A7C56-FBC8-46EC-9952-2545E2FB4736}"/>
                    </a:ext>
                  </a:extLst>
                </p:cNvPr>
                <p:cNvSpPr/>
                <p:nvPr/>
              </p:nvSpPr>
              <p:spPr>
                <a:xfrm>
                  <a:off x="7742284" y="2070475"/>
                  <a:ext cx="324000" cy="324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1050" dirty="0">
                    <a:solidFill>
                      <a:srgbClr val="00457F"/>
                    </a:solidFill>
                  </a:endParaRPr>
                </a:p>
              </p:txBody>
            </p:sp>
            <p:sp>
              <p:nvSpPr>
                <p:cNvPr id="99" name="CuadroTexto 98">
                  <a:extLst>
                    <a:ext uri="{FF2B5EF4-FFF2-40B4-BE49-F238E27FC236}">
                      <a16:creationId xmlns:a16="http://schemas.microsoft.com/office/drawing/2014/main" id="{851C3A29-BF18-44EB-8BD3-BDA2A03AA9D1}"/>
                    </a:ext>
                  </a:extLst>
                </p:cNvPr>
                <p:cNvSpPr txBox="1"/>
                <p:nvPr/>
              </p:nvSpPr>
              <p:spPr>
                <a:xfrm>
                  <a:off x="7750593" y="2129588"/>
                  <a:ext cx="360000" cy="215444"/>
                </a:xfrm>
                <a:prstGeom prst="rect">
                  <a:avLst/>
                </a:prstGeom>
                <a:noFill/>
              </p:spPr>
              <p:txBody>
                <a:bodyPr wrap="square" rtlCol="0">
                  <a:spAutoFit/>
                </a:bodyPr>
                <a:lstStyle/>
                <a:p>
                  <a:r>
                    <a:rPr lang="es-ES" sz="800" b="1" dirty="0">
                      <a:solidFill>
                        <a:srgbClr val="00457F"/>
                      </a:solidFill>
                    </a:rPr>
                    <a:t>13</a:t>
                  </a:r>
                  <a:endParaRPr lang="es-GT" b="1" dirty="0">
                    <a:solidFill>
                      <a:srgbClr val="00457F"/>
                    </a:solidFill>
                  </a:endParaRPr>
                </a:p>
              </p:txBody>
            </p:sp>
          </p:grpSp>
        </p:grpSp>
        <p:grpSp>
          <p:nvGrpSpPr>
            <p:cNvPr id="100" name="Grupo 99">
              <a:extLst>
                <a:ext uri="{FF2B5EF4-FFF2-40B4-BE49-F238E27FC236}">
                  <a16:creationId xmlns:a16="http://schemas.microsoft.com/office/drawing/2014/main" id="{CD95A299-E088-4738-9ABD-EC1A440A860F}"/>
                </a:ext>
              </a:extLst>
            </p:cNvPr>
            <p:cNvGrpSpPr/>
            <p:nvPr/>
          </p:nvGrpSpPr>
          <p:grpSpPr>
            <a:xfrm>
              <a:off x="8563706" y="1805897"/>
              <a:ext cx="1931377" cy="386861"/>
              <a:chOff x="5121520" y="2345045"/>
              <a:chExt cx="1931377" cy="386861"/>
            </a:xfrm>
          </p:grpSpPr>
          <p:sp>
            <p:nvSpPr>
              <p:cNvPr id="101" name="Rectángulo: esquinas redondeadas 100">
                <a:extLst>
                  <a:ext uri="{FF2B5EF4-FFF2-40B4-BE49-F238E27FC236}">
                    <a16:creationId xmlns:a16="http://schemas.microsoft.com/office/drawing/2014/main" id="{DF7A9B21-F87F-40C6-BB91-187D1E8B6313}"/>
                  </a:ext>
                </a:extLst>
              </p:cNvPr>
              <p:cNvSpPr/>
              <p:nvPr/>
            </p:nvSpPr>
            <p:spPr>
              <a:xfrm>
                <a:off x="5121520" y="2345045"/>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900" dirty="0">
                    <a:solidFill>
                      <a:srgbClr val="00457F"/>
                    </a:solidFill>
                  </a:rPr>
                  <a:t>           </a:t>
                </a:r>
                <a:r>
                  <a:rPr lang="es-ES" sz="800" dirty="0">
                    <a:solidFill>
                      <a:srgbClr val="00457F"/>
                    </a:solidFill>
                  </a:rPr>
                  <a:t>Prima por riesgo país</a:t>
                </a:r>
                <a:endParaRPr lang="es-GT" sz="900" dirty="0">
                  <a:solidFill>
                    <a:srgbClr val="00457F"/>
                  </a:solidFill>
                </a:endParaRPr>
              </a:p>
            </p:txBody>
          </p:sp>
          <p:grpSp>
            <p:nvGrpSpPr>
              <p:cNvPr id="102" name="Grupo 101">
                <a:extLst>
                  <a:ext uri="{FF2B5EF4-FFF2-40B4-BE49-F238E27FC236}">
                    <a16:creationId xmlns:a16="http://schemas.microsoft.com/office/drawing/2014/main" id="{E731EC5C-9E5A-4027-8C00-74613156AE79}"/>
                  </a:ext>
                </a:extLst>
              </p:cNvPr>
              <p:cNvGrpSpPr/>
              <p:nvPr/>
            </p:nvGrpSpPr>
            <p:grpSpPr>
              <a:xfrm>
                <a:off x="5162549" y="2379664"/>
                <a:ext cx="368309" cy="324000"/>
                <a:chOff x="7742284" y="2070475"/>
                <a:chExt cx="368309" cy="324000"/>
              </a:xfrm>
            </p:grpSpPr>
            <p:sp>
              <p:nvSpPr>
                <p:cNvPr id="103" name="Elipse 102">
                  <a:extLst>
                    <a:ext uri="{FF2B5EF4-FFF2-40B4-BE49-F238E27FC236}">
                      <a16:creationId xmlns:a16="http://schemas.microsoft.com/office/drawing/2014/main" id="{F29C041B-F88D-4568-A615-C9CA23D7E48C}"/>
                    </a:ext>
                  </a:extLst>
                </p:cNvPr>
                <p:cNvSpPr/>
                <p:nvPr/>
              </p:nvSpPr>
              <p:spPr>
                <a:xfrm>
                  <a:off x="7742284" y="2070475"/>
                  <a:ext cx="324000" cy="324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1050" dirty="0">
                    <a:solidFill>
                      <a:srgbClr val="00457F"/>
                    </a:solidFill>
                  </a:endParaRPr>
                </a:p>
              </p:txBody>
            </p:sp>
            <p:sp>
              <p:nvSpPr>
                <p:cNvPr id="104" name="CuadroTexto 103">
                  <a:extLst>
                    <a:ext uri="{FF2B5EF4-FFF2-40B4-BE49-F238E27FC236}">
                      <a16:creationId xmlns:a16="http://schemas.microsoft.com/office/drawing/2014/main" id="{CFD45409-EF12-4A83-9744-364A38BB6E78}"/>
                    </a:ext>
                  </a:extLst>
                </p:cNvPr>
                <p:cNvSpPr txBox="1"/>
                <p:nvPr/>
              </p:nvSpPr>
              <p:spPr>
                <a:xfrm>
                  <a:off x="7750593" y="2129588"/>
                  <a:ext cx="360000" cy="215444"/>
                </a:xfrm>
                <a:prstGeom prst="rect">
                  <a:avLst/>
                </a:prstGeom>
                <a:noFill/>
              </p:spPr>
              <p:txBody>
                <a:bodyPr wrap="square" rtlCol="0">
                  <a:spAutoFit/>
                </a:bodyPr>
                <a:lstStyle/>
                <a:p>
                  <a:r>
                    <a:rPr lang="es-ES" sz="800" b="1" dirty="0">
                      <a:solidFill>
                        <a:srgbClr val="00457F"/>
                      </a:solidFill>
                    </a:rPr>
                    <a:t>14</a:t>
                  </a:r>
                  <a:endParaRPr lang="es-GT" b="1" dirty="0">
                    <a:solidFill>
                      <a:srgbClr val="00457F"/>
                    </a:solidFill>
                  </a:endParaRPr>
                </a:p>
              </p:txBody>
            </p:sp>
          </p:grpSp>
        </p:grpSp>
        <p:grpSp>
          <p:nvGrpSpPr>
            <p:cNvPr id="105" name="Grupo 104">
              <a:extLst>
                <a:ext uri="{FF2B5EF4-FFF2-40B4-BE49-F238E27FC236}">
                  <a16:creationId xmlns:a16="http://schemas.microsoft.com/office/drawing/2014/main" id="{BD5C20E3-BAFB-46F2-8296-44271F3CA6E1}"/>
                </a:ext>
              </a:extLst>
            </p:cNvPr>
            <p:cNvGrpSpPr/>
            <p:nvPr/>
          </p:nvGrpSpPr>
          <p:grpSpPr>
            <a:xfrm>
              <a:off x="8566637" y="2315644"/>
              <a:ext cx="1931377" cy="386861"/>
              <a:chOff x="5121520" y="2345045"/>
              <a:chExt cx="1931377" cy="386861"/>
            </a:xfrm>
          </p:grpSpPr>
          <p:sp>
            <p:nvSpPr>
              <p:cNvPr id="106" name="Rectángulo: esquinas redondeadas 105">
                <a:extLst>
                  <a:ext uri="{FF2B5EF4-FFF2-40B4-BE49-F238E27FC236}">
                    <a16:creationId xmlns:a16="http://schemas.microsoft.com/office/drawing/2014/main" id="{D0EB1C8C-0A97-45A6-A52F-80DD83786DF2}"/>
                  </a:ext>
                </a:extLst>
              </p:cNvPr>
              <p:cNvSpPr/>
              <p:nvPr/>
            </p:nvSpPr>
            <p:spPr>
              <a:xfrm>
                <a:off x="5121520" y="2345045"/>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900" dirty="0">
                    <a:solidFill>
                      <a:srgbClr val="00457F"/>
                    </a:solidFill>
                  </a:rPr>
                  <a:t>           </a:t>
                </a:r>
                <a:r>
                  <a:rPr lang="es-ES" sz="800" dirty="0">
                    <a:solidFill>
                      <a:srgbClr val="00457F"/>
                    </a:solidFill>
                  </a:rPr>
                  <a:t>Inflación</a:t>
                </a:r>
                <a:endParaRPr lang="es-GT" sz="900" dirty="0">
                  <a:solidFill>
                    <a:srgbClr val="00457F"/>
                  </a:solidFill>
                </a:endParaRPr>
              </a:p>
            </p:txBody>
          </p:sp>
          <p:grpSp>
            <p:nvGrpSpPr>
              <p:cNvPr id="107" name="Grupo 106">
                <a:extLst>
                  <a:ext uri="{FF2B5EF4-FFF2-40B4-BE49-F238E27FC236}">
                    <a16:creationId xmlns:a16="http://schemas.microsoft.com/office/drawing/2014/main" id="{38CDC54F-9A5F-4F1C-8E1B-17027CE503D2}"/>
                  </a:ext>
                </a:extLst>
              </p:cNvPr>
              <p:cNvGrpSpPr/>
              <p:nvPr/>
            </p:nvGrpSpPr>
            <p:grpSpPr>
              <a:xfrm>
                <a:off x="5162549" y="2379664"/>
                <a:ext cx="368309" cy="324000"/>
                <a:chOff x="7742284" y="2070475"/>
                <a:chExt cx="368309" cy="324000"/>
              </a:xfrm>
            </p:grpSpPr>
            <p:sp>
              <p:nvSpPr>
                <p:cNvPr id="108" name="Elipse 107">
                  <a:extLst>
                    <a:ext uri="{FF2B5EF4-FFF2-40B4-BE49-F238E27FC236}">
                      <a16:creationId xmlns:a16="http://schemas.microsoft.com/office/drawing/2014/main" id="{457CB45B-6B94-4E3F-AA31-265B14838F6D}"/>
                    </a:ext>
                  </a:extLst>
                </p:cNvPr>
                <p:cNvSpPr/>
                <p:nvPr/>
              </p:nvSpPr>
              <p:spPr>
                <a:xfrm>
                  <a:off x="7742284" y="2070475"/>
                  <a:ext cx="324000" cy="324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1050" dirty="0">
                    <a:solidFill>
                      <a:srgbClr val="00457F"/>
                    </a:solidFill>
                  </a:endParaRPr>
                </a:p>
              </p:txBody>
            </p:sp>
            <p:sp>
              <p:nvSpPr>
                <p:cNvPr id="109" name="CuadroTexto 108">
                  <a:extLst>
                    <a:ext uri="{FF2B5EF4-FFF2-40B4-BE49-F238E27FC236}">
                      <a16:creationId xmlns:a16="http://schemas.microsoft.com/office/drawing/2014/main" id="{D9A93222-AA29-4BB2-8E47-D3B8EB9FA609}"/>
                    </a:ext>
                  </a:extLst>
                </p:cNvPr>
                <p:cNvSpPr txBox="1"/>
                <p:nvPr/>
              </p:nvSpPr>
              <p:spPr>
                <a:xfrm>
                  <a:off x="7750593" y="2129588"/>
                  <a:ext cx="360000" cy="215444"/>
                </a:xfrm>
                <a:prstGeom prst="rect">
                  <a:avLst/>
                </a:prstGeom>
                <a:noFill/>
              </p:spPr>
              <p:txBody>
                <a:bodyPr wrap="square" rtlCol="0">
                  <a:spAutoFit/>
                </a:bodyPr>
                <a:lstStyle/>
                <a:p>
                  <a:r>
                    <a:rPr lang="es-ES" sz="800" b="1" dirty="0">
                      <a:solidFill>
                        <a:srgbClr val="00457F"/>
                      </a:solidFill>
                    </a:rPr>
                    <a:t>15</a:t>
                  </a:r>
                  <a:endParaRPr lang="es-GT" b="1" dirty="0">
                    <a:solidFill>
                      <a:srgbClr val="00457F"/>
                    </a:solidFill>
                  </a:endParaRPr>
                </a:p>
              </p:txBody>
            </p:sp>
          </p:grpSp>
        </p:grpSp>
        <p:grpSp>
          <p:nvGrpSpPr>
            <p:cNvPr id="110" name="Grupo 109">
              <a:extLst>
                <a:ext uri="{FF2B5EF4-FFF2-40B4-BE49-F238E27FC236}">
                  <a16:creationId xmlns:a16="http://schemas.microsoft.com/office/drawing/2014/main" id="{D06296EE-BAFA-434C-B674-DA50EA8452D8}"/>
                </a:ext>
              </a:extLst>
            </p:cNvPr>
            <p:cNvGrpSpPr/>
            <p:nvPr/>
          </p:nvGrpSpPr>
          <p:grpSpPr>
            <a:xfrm>
              <a:off x="8563705" y="2811320"/>
              <a:ext cx="1931377" cy="386861"/>
              <a:chOff x="5121520" y="2345045"/>
              <a:chExt cx="1931377" cy="386861"/>
            </a:xfrm>
          </p:grpSpPr>
          <p:sp>
            <p:nvSpPr>
              <p:cNvPr id="111" name="Rectángulo: esquinas redondeadas 110">
                <a:extLst>
                  <a:ext uri="{FF2B5EF4-FFF2-40B4-BE49-F238E27FC236}">
                    <a16:creationId xmlns:a16="http://schemas.microsoft.com/office/drawing/2014/main" id="{D42E1459-DFED-4C72-B1F9-FE0A1EDA9276}"/>
                  </a:ext>
                </a:extLst>
              </p:cNvPr>
              <p:cNvSpPr/>
              <p:nvPr/>
            </p:nvSpPr>
            <p:spPr>
              <a:xfrm>
                <a:off x="5121520" y="2345045"/>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900" dirty="0">
                    <a:solidFill>
                      <a:srgbClr val="00457F"/>
                    </a:solidFill>
                  </a:rPr>
                  <a:t>           </a:t>
                </a:r>
                <a:r>
                  <a:rPr lang="es-ES" sz="800" dirty="0">
                    <a:solidFill>
                      <a:srgbClr val="00457F"/>
                    </a:solidFill>
                  </a:rPr>
                  <a:t>Crecimiento económico</a:t>
                </a:r>
              </a:p>
              <a:p>
                <a:r>
                  <a:rPr lang="es-ES" sz="800" dirty="0">
                    <a:solidFill>
                      <a:srgbClr val="00457F"/>
                    </a:solidFill>
                  </a:rPr>
                  <a:t>            doméstico</a:t>
                </a:r>
                <a:endParaRPr lang="es-GT" sz="900" dirty="0">
                  <a:solidFill>
                    <a:srgbClr val="00457F"/>
                  </a:solidFill>
                </a:endParaRPr>
              </a:p>
            </p:txBody>
          </p:sp>
          <p:grpSp>
            <p:nvGrpSpPr>
              <p:cNvPr id="112" name="Grupo 111">
                <a:extLst>
                  <a:ext uri="{FF2B5EF4-FFF2-40B4-BE49-F238E27FC236}">
                    <a16:creationId xmlns:a16="http://schemas.microsoft.com/office/drawing/2014/main" id="{4F36CB2B-A636-4659-A2DF-F20D5948CEA2}"/>
                  </a:ext>
                </a:extLst>
              </p:cNvPr>
              <p:cNvGrpSpPr/>
              <p:nvPr/>
            </p:nvGrpSpPr>
            <p:grpSpPr>
              <a:xfrm>
                <a:off x="5162549" y="2379664"/>
                <a:ext cx="368309" cy="324000"/>
                <a:chOff x="7742284" y="2070475"/>
                <a:chExt cx="368309" cy="324000"/>
              </a:xfrm>
            </p:grpSpPr>
            <p:sp>
              <p:nvSpPr>
                <p:cNvPr id="113" name="Elipse 112">
                  <a:extLst>
                    <a:ext uri="{FF2B5EF4-FFF2-40B4-BE49-F238E27FC236}">
                      <a16:creationId xmlns:a16="http://schemas.microsoft.com/office/drawing/2014/main" id="{33F0F50B-EDAE-4377-BE8B-56BA6D74C77A}"/>
                    </a:ext>
                  </a:extLst>
                </p:cNvPr>
                <p:cNvSpPr/>
                <p:nvPr/>
              </p:nvSpPr>
              <p:spPr>
                <a:xfrm>
                  <a:off x="7742284" y="2070475"/>
                  <a:ext cx="324000" cy="324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1050" dirty="0">
                    <a:solidFill>
                      <a:srgbClr val="00457F"/>
                    </a:solidFill>
                  </a:endParaRPr>
                </a:p>
              </p:txBody>
            </p:sp>
            <p:sp>
              <p:nvSpPr>
                <p:cNvPr id="114" name="CuadroTexto 113">
                  <a:extLst>
                    <a:ext uri="{FF2B5EF4-FFF2-40B4-BE49-F238E27FC236}">
                      <a16:creationId xmlns:a16="http://schemas.microsoft.com/office/drawing/2014/main" id="{12C86E9A-802A-47E7-9587-F003D8E6E668}"/>
                    </a:ext>
                  </a:extLst>
                </p:cNvPr>
                <p:cNvSpPr txBox="1"/>
                <p:nvPr/>
              </p:nvSpPr>
              <p:spPr>
                <a:xfrm>
                  <a:off x="7750593" y="2129588"/>
                  <a:ext cx="360000" cy="215444"/>
                </a:xfrm>
                <a:prstGeom prst="rect">
                  <a:avLst/>
                </a:prstGeom>
                <a:noFill/>
              </p:spPr>
              <p:txBody>
                <a:bodyPr wrap="square" rtlCol="0">
                  <a:spAutoFit/>
                </a:bodyPr>
                <a:lstStyle/>
                <a:p>
                  <a:r>
                    <a:rPr lang="es-ES" sz="800" b="1" dirty="0">
                      <a:solidFill>
                        <a:srgbClr val="00457F"/>
                      </a:solidFill>
                    </a:rPr>
                    <a:t>16</a:t>
                  </a:r>
                  <a:endParaRPr lang="es-GT" b="1" dirty="0">
                    <a:solidFill>
                      <a:srgbClr val="00457F"/>
                    </a:solidFill>
                  </a:endParaRPr>
                </a:p>
              </p:txBody>
            </p:sp>
          </p:grpSp>
        </p:grpSp>
        <p:grpSp>
          <p:nvGrpSpPr>
            <p:cNvPr id="115" name="Grupo 114">
              <a:extLst>
                <a:ext uri="{FF2B5EF4-FFF2-40B4-BE49-F238E27FC236}">
                  <a16:creationId xmlns:a16="http://schemas.microsoft.com/office/drawing/2014/main" id="{67EF8986-9A64-4E25-B9B6-BCB1077B9A53}"/>
                </a:ext>
              </a:extLst>
            </p:cNvPr>
            <p:cNvGrpSpPr/>
            <p:nvPr/>
          </p:nvGrpSpPr>
          <p:grpSpPr>
            <a:xfrm>
              <a:off x="8563704" y="3300342"/>
              <a:ext cx="1931377" cy="386861"/>
              <a:chOff x="5121520" y="2345045"/>
              <a:chExt cx="1931377" cy="386861"/>
            </a:xfrm>
          </p:grpSpPr>
          <p:sp>
            <p:nvSpPr>
              <p:cNvPr id="116" name="Rectángulo: esquinas redondeadas 115">
                <a:extLst>
                  <a:ext uri="{FF2B5EF4-FFF2-40B4-BE49-F238E27FC236}">
                    <a16:creationId xmlns:a16="http://schemas.microsoft.com/office/drawing/2014/main" id="{0EA6ABFC-D8EF-475F-8104-9B2B534AC6AB}"/>
                  </a:ext>
                </a:extLst>
              </p:cNvPr>
              <p:cNvSpPr/>
              <p:nvPr/>
            </p:nvSpPr>
            <p:spPr>
              <a:xfrm>
                <a:off x="5121520" y="2345045"/>
                <a:ext cx="1931377" cy="386861"/>
              </a:xfrm>
              <a:prstGeom prst="roundRect">
                <a:avLst/>
              </a:prstGeom>
              <a:solidFill>
                <a:srgbClr val="FBFD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900" dirty="0">
                    <a:solidFill>
                      <a:srgbClr val="00457F"/>
                    </a:solidFill>
                  </a:rPr>
                  <a:t>           </a:t>
                </a:r>
                <a:r>
                  <a:rPr lang="es-ES" sz="800" dirty="0">
                    <a:solidFill>
                      <a:srgbClr val="00457F"/>
                    </a:solidFill>
                  </a:rPr>
                  <a:t>Inversión privada</a:t>
                </a:r>
                <a:endParaRPr lang="es-GT" sz="900" dirty="0">
                  <a:solidFill>
                    <a:srgbClr val="00457F"/>
                  </a:solidFill>
                </a:endParaRPr>
              </a:p>
            </p:txBody>
          </p:sp>
          <p:grpSp>
            <p:nvGrpSpPr>
              <p:cNvPr id="117" name="Grupo 116">
                <a:extLst>
                  <a:ext uri="{FF2B5EF4-FFF2-40B4-BE49-F238E27FC236}">
                    <a16:creationId xmlns:a16="http://schemas.microsoft.com/office/drawing/2014/main" id="{2D130562-7F1E-4BF6-AA91-01AC4C3C100C}"/>
                  </a:ext>
                </a:extLst>
              </p:cNvPr>
              <p:cNvGrpSpPr/>
              <p:nvPr/>
            </p:nvGrpSpPr>
            <p:grpSpPr>
              <a:xfrm>
                <a:off x="5162549" y="2379664"/>
                <a:ext cx="368309" cy="324000"/>
                <a:chOff x="7742284" y="2070475"/>
                <a:chExt cx="368309" cy="324000"/>
              </a:xfrm>
            </p:grpSpPr>
            <p:sp>
              <p:nvSpPr>
                <p:cNvPr id="118" name="Elipse 117">
                  <a:extLst>
                    <a:ext uri="{FF2B5EF4-FFF2-40B4-BE49-F238E27FC236}">
                      <a16:creationId xmlns:a16="http://schemas.microsoft.com/office/drawing/2014/main" id="{A0CBC06C-BE60-4EBA-9789-292F4FDE79CF}"/>
                    </a:ext>
                  </a:extLst>
                </p:cNvPr>
                <p:cNvSpPr/>
                <p:nvPr/>
              </p:nvSpPr>
              <p:spPr>
                <a:xfrm>
                  <a:off x="7742284" y="2070475"/>
                  <a:ext cx="324000" cy="324000"/>
                </a:xfrm>
                <a:prstGeom prst="ellipse">
                  <a:avLst/>
                </a:prstGeom>
                <a:solidFill>
                  <a:srgbClr val="E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1050" dirty="0">
                    <a:solidFill>
                      <a:srgbClr val="00457F"/>
                    </a:solidFill>
                  </a:endParaRPr>
                </a:p>
              </p:txBody>
            </p:sp>
            <p:sp>
              <p:nvSpPr>
                <p:cNvPr id="119" name="CuadroTexto 118">
                  <a:extLst>
                    <a:ext uri="{FF2B5EF4-FFF2-40B4-BE49-F238E27FC236}">
                      <a16:creationId xmlns:a16="http://schemas.microsoft.com/office/drawing/2014/main" id="{A1B253BF-5330-4592-9354-552E3F0FB3BD}"/>
                    </a:ext>
                  </a:extLst>
                </p:cNvPr>
                <p:cNvSpPr txBox="1"/>
                <p:nvPr/>
              </p:nvSpPr>
              <p:spPr>
                <a:xfrm>
                  <a:off x="7750593" y="2129588"/>
                  <a:ext cx="360000" cy="215444"/>
                </a:xfrm>
                <a:prstGeom prst="rect">
                  <a:avLst/>
                </a:prstGeom>
                <a:noFill/>
              </p:spPr>
              <p:txBody>
                <a:bodyPr wrap="square" rtlCol="0">
                  <a:spAutoFit/>
                </a:bodyPr>
                <a:lstStyle/>
                <a:p>
                  <a:r>
                    <a:rPr lang="es-ES" sz="800" b="1" dirty="0">
                      <a:solidFill>
                        <a:srgbClr val="00457F"/>
                      </a:solidFill>
                    </a:rPr>
                    <a:t>17</a:t>
                  </a:r>
                  <a:endParaRPr lang="es-GT" b="1" dirty="0">
                    <a:solidFill>
                      <a:srgbClr val="00457F"/>
                    </a:solidFill>
                  </a:endParaRPr>
                </a:p>
              </p:txBody>
            </p:sp>
          </p:grpSp>
        </p:grpSp>
      </p:grpSp>
      <p:sp>
        <p:nvSpPr>
          <p:cNvPr id="12" name="CuadroTexto 11">
            <a:extLst>
              <a:ext uri="{FF2B5EF4-FFF2-40B4-BE49-F238E27FC236}">
                <a16:creationId xmlns:a16="http://schemas.microsoft.com/office/drawing/2014/main" id="{F3A5ADE1-F61D-C68D-7CE0-56BBADFDCFD3}"/>
              </a:ext>
            </a:extLst>
          </p:cNvPr>
          <p:cNvSpPr txBox="1"/>
          <p:nvPr/>
        </p:nvSpPr>
        <p:spPr>
          <a:xfrm>
            <a:off x="1401262" y="781198"/>
            <a:ext cx="2793251" cy="369332"/>
          </a:xfrm>
          <a:prstGeom prst="rect">
            <a:avLst/>
          </a:prstGeom>
          <a:noFill/>
        </p:spPr>
        <p:txBody>
          <a:bodyPr wrap="square" rtlCol="0">
            <a:spAutoFit/>
          </a:bodyPr>
          <a:lstStyle/>
          <a:p>
            <a:r>
              <a:rPr lang="es-MX" b="1" dirty="0">
                <a:solidFill>
                  <a:srgbClr val="00457F"/>
                </a:solidFill>
              </a:rPr>
              <a:t>Variables del modelo</a:t>
            </a:r>
          </a:p>
        </p:txBody>
      </p:sp>
      <p:pic>
        <p:nvPicPr>
          <p:cNvPr id="14" name="Gráfico 13" descr="Signo de exclamación con relleno sólido">
            <a:extLst>
              <a:ext uri="{FF2B5EF4-FFF2-40B4-BE49-F238E27FC236}">
                <a16:creationId xmlns:a16="http://schemas.microsoft.com/office/drawing/2014/main" id="{63CDA4CC-4756-D245-FF5E-944F6A1FD6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85895" y="1747224"/>
            <a:ext cx="216000" cy="216000"/>
          </a:xfrm>
          <a:prstGeom prst="rect">
            <a:avLst/>
          </a:prstGeom>
        </p:spPr>
      </p:pic>
      <p:pic>
        <p:nvPicPr>
          <p:cNvPr id="16" name="Gráfico 15" descr="Signo de exclamación con relleno sólido">
            <a:extLst>
              <a:ext uri="{FF2B5EF4-FFF2-40B4-BE49-F238E27FC236}">
                <a16:creationId xmlns:a16="http://schemas.microsoft.com/office/drawing/2014/main" id="{1D57E433-EE5D-365D-E4FB-BC6CBCDC20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92773" y="2286452"/>
            <a:ext cx="216000" cy="216000"/>
          </a:xfrm>
          <a:prstGeom prst="rect">
            <a:avLst/>
          </a:prstGeom>
        </p:spPr>
      </p:pic>
      <p:pic>
        <p:nvPicPr>
          <p:cNvPr id="18" name="Gráfico 17" descr="Signo de exclamación con relleno sólido">
            <a:extLst>
              <a:ext uri="{FF2B5EF4-FFF2-40B4-BE49-F238E27FC236}">
                <a16:creationId xmlns:a16="http://schemas.microsoft.com/office/drawing/2014/main" id="{48FD8535-B7C5-6350-55BC-3220E318E85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85894" y="2805301"/>
            <a:ext cx="216000" cy="216000"/>
          </a:xfrm>
          <a:prstGeom prst="rect">
            <a:avLst/>
          </a:prstGeom>
        </p:spPr>
      </p:pic>
      <p:pic>
        <p:nvPicPr>
          <p:cNvPr id="20" name="Gráfico 19" descr="Signo de exclamación con relleno sólido">
            <a:extLst>
              <a:ext uri="{FF2B5EF4-FFF2-40B4-BE49-F238E27FC236}">
                <a16:creationId xmlns:a16="http://schemas.microsoft.com/office/drawing/2014/main" id="{8FB581C2-865D-2CC9-5C41-EDCAA8BB4F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85893" y="3287251"/>
            <a:ext cx="216000" cy="216000"/>
          </a:xfrm>
          <a:prstGeom prst="rect">
            <a:avLst/>
          </a:prstGeom>
        </p:spPr>
      </p:pic>
      <p:sp>
        <p:nvSpPr>
          <p:cNvPr id="13" name="CuadroTexto 12">
            <a:extLst>
              <a:ext uri="{FF2B5EF4-FFF2-40B4-BE49-F238E27FC236}">
                <a16:creationId xmlns:a16="http://schemas.microsoft.com/office/drawing/2014/main" id="{500AC0C2-7532-F1AE-8E99-33DD5CC96015}"/>
              </a:ext>
            </a:extLst>
          </p:cNvPr>
          <p:cNvSpPr txBox="1"/>
          <p:nvPr/>
        </p:nvSpPr>
        <p:spPr>
          <a:xfrm>
            <a:off x="558140" y="4514582"/>
            <a:ext cx="10919362" cy="1077218"/>
          </a:xfrm>
          <a:prstGeom prst="rect">
            <a:avLst/>
          </a:prstGeom>
          <a:noFill/>
        </p:spPr>
        <p:txBody>
          <a:bodyPr wrap="square" rtlCol="0">
            <a:spAutoFit/>
          </a:bodyPr>
          <a:lstStyle/>
          <a:p>
            <a:pPr algn="just"/>
            <a:r>
              <a:rPr lang="es-MX" sz="1600" dirty="0"/>
              <a:t>La Política Monetaria opera principalmente mediante la tasa de interés líder, mientras que </a:t>
            </a:r>
            <a:r>
              <a:rPr lang="es-MX" sz="1600" b="1" dirty="0">
                <a:solidFill>
                  <a:schemeClr val="accent6">
                    <a:lumMod val="75000"/>
                  </a:schemeClr>
                </a:solidFill>
              </a:rPr>
              <a:t>los instrumentos de la Política Fiscal </a:t>
            </a:r>
            <a:r>
              <a:rPr lang="es-MX" sz="1600" dirty="0"/>
              <a:t>son la inversión pública, los ingresos totales del gobierno, el gasto de funcionamiento y el endeudamiento público externo. De hecho, son estas últimas variables las que generan la </a:t>
            </a:r>
            <a:r>
              <a:rPr lang="es-MX" sz="1600" b="1" dirty="0"/>
              <a:t>mayor parte del dinamismo dentro del modelo</a:t>
            </a:r>
            <a:r>
              <a:rPr lang="es-MX" sz="1600" dirty="0"/>
              <a:t>.</a:t>
            </a:r>
          </a:p>
        </p:txBody>
      </p:sp>
    </p:spTree>
    <p:extLst>
      <p:ext uri="{BB962C8B-B14F-4D97-AF65-F5344CB8AC3E}">
        <p14:creationId xmlns:p14="http://schemas.microsoft.com/office/powerpoint/2010/main" val="2913365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D4C3F3-0A0D-4459-883A-3C8C4F5B26B3}"/>
              </a:ext>
            </a:extLst>
          </p:cNvPr>
          <p:cNvSpPr>
            <a:spLocks noGrp="1"/>
          </p:cNvSpPr>
          <p:nvPr>
            <p:ph type="title"/>
          </p:nvPr>
        </p:nvSpPr>
        <p:spPr>
          <a:xfrm>
            <a:off x="1295400" y="74980"/>
            <a:ext cx="7118838" cy="689952"/>
          </a:xfrm>
        </p:spPr>
        <p:txBody>
          <a:bodyPr/>
          <a:lstStyle/>
          <a:p>
            <a:r>
              <a:rPr lang="es-ES" dirty="0"/>
              <a:t>Supuestos principales</a:t>
            </a:r>
            <a:endParaRPr lang="es-GT" dirty="0"/>
          </a:p>
        </p:txBody>
      </p:sp>
      <p:sp>
        <p:nvSpPr>
          <p:cNvPr id="3" name="Marcador de contenido 2">
            <a:extLst>
              <a:ext uri="{FF2B5EF4-FFF2-40B4-BE49-F238E27FC236}">
                <a16:creationId xmlns:a16="http://schemas.microsoft.com/office/drawing/2014/main" id="{5273B6D0-A7E1-43F8-8BEB-374236F7864F}"/>
              </a:ext>
            </a:extLst>
          </p:cNvPr>
          <p:cNvSpPr>
            <a:spLocks noGrp="1"/>
          </p:cNvSpPr>
          <p:nvPr>
            <p:ph idx="1"/>
          </p:nvPr>
        </p:nvSpPr>
        <p:spPr>
          <a:xfrm>
            <a:off x="759070" y="972771"/>
            <a:ext cx="10515600" cy="4351338"/>
          </a:xfrm>
        </p:spPr>
        <p:txBody>
          <a:bodyPr>
            <a:normAutofit/>
          </a:bodyPr>
          <a:lstStyle/>
          <a:p>
            <a:pPr marL="0" indent="0" algn="just">
              <a:buNone/>
            </a:pPr>
            <a:r>
              <a:rPr lang="es-ES" sz="1600" dirty="0"/>
              <a:t>Los principales supuestos que rigen la dinámica del modelo se detallan a continuación:</a:t>
            </a:r>
          </a:p>
          <a:p>
            <a:pPr marL="800100" lvl="1" indent="-342900" algn="just">
              <a:lnSpc>
                <a:spcPct val="150000"/>
              </a:lnSpc>
              <a:buFont typeface="+mj-lt"/>
              <a:buAutoNum type="arabicPeriod"/>
            </a:pPr>
            <a:r>
              <a:rPr lang="es-ES" sz="1600" dirty="0"/>
              <a:t>Las depreciaciones cambiarias reales contraen los activos externos netos</a:t>
            </a:r>
          </a:p>
          <a:p>
            <a:pPr marL="800100" lvl="1" indent="-342900" algn="just">
              <a:lnSpc>
                <a:spcPct val="150000"/>
              </a:lnSpc>
              <a:buFont typeface="+mj-lt"/>
              <a:buAutoNum type="arabicPeriod"/>
            </a:pPr>
            <a:r>
              <a:rPr lang="es-ES" sz="1600" dirty="0"/>
              <a:t>El tipo de cambio nominal se ve afectado por los componentes tradicionales de la UIP desde una perspectiva de flujos de capitales.</a:t>
            </a:r>
          </a:p>
          <a:p>
            <a:pPr marL="800100" lvl="1" indent="-342900" algn="just">
              <a:lnSpc>
                <a:spcPct val="150000"/>
              </a:lnSpc>
              <a:buFont typeface="+mj-lt"/>
              <a:buAutoNum type="arabicPeriod"/>
            </a:pPr>
            <a:r>
              <a:rPr lang="es-ES" sz="1600" dirty="0"/>
              <a:t>La prima por riesgo país es afectada por dos vías principales:</a:t>
            </a:r>
          </a:p>
          <a:p>
            <a:pPr marL="914400" lvl="2" indent="0" algn="just">
              <a:lnSpc>
                <a:spcPct val="150000"/>
              </a:lnSpc>
              <a:buNone/>
            </a:pPr>
            <a:r>
              <a:rPr lang="es-ES" sz="1400" dirty="0"/>
              <a:t>3.1   Incrementos de los activos internos y externos netos del banco central reducen la prima por riesgo país.</a:t>
            </a:r>
          </a:p>
          <a:p>
            <a:pPr marL="914400" lvl="2" indent="0" algn="just">
              <a:lnSpc>
                <a:spcPct val="150000"/>
              </a:lnSpc>
              <a:buNone/>
            </a:pPr>
            <a:r>
              <a:rPr lang="es-ES" sz="1400" dirty="0"/>
              <a:t>3.2   Incrementos de deuda pública interna y externa aumentan la prima por riesgo país.</a:t>
            </a:r>
            <a:endParaRPr lang="es-ES" sz="1600" dirty="0"/>
          </a:p>
          <a:p>
            <a:pPr marL="800100" lvl="1" indent="-342900" algn="just">
              <a:lnSpc>
                <a:spcPct val="150000"/>
              </a:lnSpc>
              <a:buFont typeface="+mj-lt"/>
              <a:buAutoNum type="arabicPeriod"/>
            </a:pPr>
            <a:r>
              <a:rPr lang="es-ES" sz="1600" dirty="0"/>
              <a:t>La inversión total no incluye la variación de existencias.</a:t>
            </a:r>
          </a:p>
          <a:p>
            <a:pPr marL="0" indent="0" algn="just">
              <a:buNone/>
            </a:pPr>
            <a:endParaRPr lang="es-ES" sz="1600" dirty="0"/>
          </a:p>
          <a:p>
            <a:pPr marL="0" indent="0" algn="just">
              <a:buNone/>
            </a:pPr>
            <a:endParaRPr lang="es-ES" sz="1600" dirty="0"/>
          </a:p>
          <a:p>
            <a:pPr marL="0" lvl="1" indent="0" algn="just">
              <a:buNone/>
            </a:pPr>
            <a:endParaRPr lang="es-GT" sz="1600" dirty="0"/>
          </a:p>
        </p:txBody>
      </p:sp>
      <p:sp>
        <p:nvSpPr>
          <p:cNvPr id="4" name="Marcador de número de diapositiva 3">
            <a:extLst>
              <a:ext uri="{FF2B5EF4-FFF2-40B4-BE49-F238E27FC236}">
                <a16:creationId xmlns:a16="http://schemas.microsoft.com/office/drawing/2014/main" id="{1B438578-2A14-4107-8808-96259A6AB228}"/>
              </a:ext>
            </a:extLst>
          </p:cNvPr>
          <p:cNvSpPr>
            <a:spLocks noGrp="1"/>
          </p:cNvSpPr>
          <p:nvPr>
            <p:ph type="sldNum" sz="quarter" idx="12"/>
          </p:nvPr>
        </p:nvSpPr>
        <p:spPr/>
        <p:txBody>
          <a:bodyPr/>
          <a:lstStyle/>
          <a:p>
            <a:fld id="{2DD1AF16-C9BB-4ECC-8D85-F1550267F355}" type="slidenum">
              <a:rPr lang="es-GT" smtClean="0"/>
              <a:pPr/>
              <a:t>10</a:t>
            </a:fld>
            <a:endParaRPr lang="es-GT" dirty="0"/>
          </a:p>
        </p:txBody>
      </p:sp>
    </p:spTree>
    <p:extLst>
      <p:ext uri="{BB962C8B-B14F-4D97-AF65-F5344CB8AC3E}">
        <p14:creationId xmlns:p14="http://schemas.microsoft.com/office/powerpoint/2010/main" val="1429424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8D02E5CC-4624-4D71-819B-22C869608E43}"/>
              </a:ext>
            </a:extLst>
          </p:cNvPr>
          <p:cNvSpPr>
            <a:spLocks noGrp="1"/>
          </p:cNvSpPr>
          <p:nvPr>
            <p:ph type="title"/>
          </p:nvPr>
        </p:nvSpPr>
        <p:spPr/>
        <p:txBody>
          <a:bodyPr/>
          <a:lstStyle/>
          <a:p>
            <a:r>
              <a:rPr lang="es-ES" dirty="0"/>
              <a:t>Pronósticos</a:t>
            </a:r>
            <a:endParaRPr lang="es-GT" dirty="0"/>
          </a:p>
        </p:txBody>
      </p:sp>
      <p:sp>
        <p:nvSpPr>
          <p:cNvPr id="6" name="Marcador de texto 5">
            <a:extLst>
              <a:ext uri="{FF2B5EF4-FFF2-40B4-BE49-F238E27FC236}">
                <a16:creationId xmlns:a16="http://schemas.microsoft.com/office/drawing/2014/main" id="{0BED8BDE-A7B5-416B-B6BB-EEDE10B757D3}"/>
              </a:ext>
            </a:extLst>
          </p:cNvPr>
          <p:cNvSpPr>
            <a:spLocks noGrp="1"/>
          </p:cNvSpPr>
          <p:nvPr>
            <p:ph type="body" idx="1"/>
          </p:nvPr>
        </p:nvSpPr>
        <p:spPr/>
        <p:txBody>
          <a:bodyPr/>
          <a:lstStyle/>
          <a:p>
            <a:r>
              <a:rPr lang="es-ES" dirty="0">
                <a:solidFill>
                  <a:schemeClr val="bg2">
                    <a:lumMod val="90000"/>
                  </a:schemeClr>
                </a:solidFill>
              </a:rPr>
              <a:t>Escenarios base, moderado y optimista</a:t>
            </a:r>
            <a:endParaRPr lang="es-GT" dirty="0">
              <a:solidFill>
                <a:schemeClr val="bg2">
                  <a:lumMod val="90000"/>
                </a:schemeClr>
              </a:solidFill>
            </a:endParaRPr>
          </a:p>
        </p:txBody>
      </p:sp>
      <p:sp>
        <p:nvSpPr>
          <p:cNvPr id="4" name="Marcador de número de diapositiva 3">
            <a:extLst>
              <a:ext uri="{FF2B5EF4-FFF2-40B4-BE49-F238E27FC236}">
                <a16:creationId xmlns:a16="http://schemas.microsoft.com/office/drawing/2014/main" id="{CF6AF598-E672-4939-B45C-4CBD9BB0FF41}"/>
              </a:ext>
            </a:extLst>
          </p:cNvPr>
          <p:cNvSpPr>
            <a:spLocks noGrp="1"/>
          </p:cNvSpPr>
          <p:nvPr>
            <p:ph type="sldNum" sz="quarter" idx="4294967295"/>
          </p:nvPr>
        </p:nvSpPr>
        <p:spPr>
          <a:xfrm>
            <a:off x="11353800" y="6086475"/>
            <a:ext cx="838200" cy="771525"/>
          </a:xfrm>
        </p:spPr>
        <p:txBody>
          <a:bodyPr/>
          <a:lstStyle/>
          <a:p>
            <a:fld id="{2DD1AF16-C9BB-4ECC-8D85-F1550267F355}" type="slidenum">
              <a:rPr lang="es-GT" smtClean="0"/>
              <a:pPr/>
              <a:t>11</a:t>
            </a:fld>
            <a:endParaRPr lang="es-GT" dirty="0"/>
          </a:p>
        </p:txBody>
      </p:sp>
    </p:spTree>
    <p:extLst>
      <p:ext uri="{BB962C8B-B14F-4D97-AF65-F5344CB8AC3E}">
        <p14:creationId xmlns:p14="http://schemas.microsoft.com/office/powerpoint/2010/main" val="1120414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8B49DC4-DC8C-4AB2-B824-A7E6D6D4D02B}"/>
              </a:ext>
            </a:extLst>
          </p:cNvPr>
          <p:cNvSpPr>
            <a:spLocks noGrp="1"/>
          </p:cNvSpPr>
          <p:nvPr>
            <p:ph type="sldNum" sz="quarter" idx="12"/>
          </p:nvPr>
        </p:nvSpPr>
        <p:spPr/>
        <p:txBody>
          <a:bodyPr/>
          <a:lstStyle/>
          <a:p>
            <a:fld id="{2DD1AF16-C9BB-4ECC-8D85-F1550267F355}" type="slidenum">
              <a:rPr lang="es-GT" smtClean="0"/>
              <a:pPr/>
              <a:t>12</a:t>
            </a:fld>
            <a:endParaRPr lang="es-GT" dirty="0"/>
          </a:p>
        </p:txBody>
      </p:sp>
      <p:pic>
        <p:nvPicPr>
          <p:cNvPr id="10" name="Imagen 9">
            <a:extLst>
              <a:ext uri="{FF2B5EF4-FFF2-40B4-BE49-F238E27FC236}">
                <a16:creationId xmlns:a16="http://schemas.microsoft.com/office/drawing/2014/main" id="{38F4BA7F-FE7A-49B6-B25B-D1D364EDE7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07" y="0"/>
            <a:ext cx="10271415" cy="6086764"/>
          </a:xfrm>
          <a:prstGeom prst="rect">
            <a:avLst/>
          </a:prstGeom>
        </p:spPr>
      </p:pic>
      <p:sp>
        <p:nvSpPr>
          <p:cNvPr id="3" name="CuadroTexto 2">
            <a:extLst>
              <a:ext uri="{FF2B5EF4-FFF2-40B4-BE49-F238E27FC236}">
                <a16:creationId xmlns:a16="http://schemas.microsoft.com/office/drawing/2014/main" id="{3324DE2D-02AF-404F-9AD5-03835F68DF82}"/>
              </a:ext>
            </a:extLst>
          </p:cNvPr>
          <p:cNvSpPr txBox="1"/>
          <p:nvPr/>
        </p:nvSpPr>
        <p:spPr>
          <a:xfrm>
            <a:off x="4471060" y="2399030"/>
            <a:ext cx="5326083" cy="577081"/>
          </a:xfrm>
          <a:prstGeom prst="rect">
            <a:avLst/>
          </a:prstGeom>
          <a:noFill/>
        </p:spPr>
        <p:txBody>
          <a:bodyPr wrap="square" rtlCol="0">
            <a:spAutoFit/>
          </a:bodyPr>
          <a:lstStyle/>
          <a:p>
            <a:pPr algn="just"/>
            <a:r>
              <a:rPr lang="es-MX" sz="1050" dirty="0"/>
              <a:t>La construcción de los escenarios moderado y optimista responde a una lógica macroeconómica interna, en la que la </a:t>
            </a:r>
            <a:r>
              <a:rPr lang="es-MX" sz="1050" b="1" dirty="0"/>
              <a:t>política fiscal juega un papel protagónico</a:t>
            </a:r>
            <a:r>
              <a:rPr lang="es-MX" sz="1050" dirty="0"/>
              <a:t> en la generación de los cambios estructurales..</a:t>
            </a:r>
            <a:endParaRPr lang="es-MX" sz="1400" dirty="0"/>
          </a:p>
        </p:txBody>
      </p:sp>
    </p:spTree>
    <p:extLst>
      <p:ext uri="{BB962C8B-B14F-4D97-AF65-F5344CB8AC3E}">
        <p14:creationId xmlns:p14="http://schemas.microsoft.com/office/powerpoint/2010/main" val="161074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6C4AE81E-6433-4A15-8783-BA0480372824}"/>
              </a:ext>
            </a:extLst>
          </p:cNvPr>
          <p:cNvSpPr>
            <a:spLocks noGrp="1"/>
          </p:cNvSpPr>
          <p:nvPr>
            <p:ph type="sldNum" sz="quarter" idx="12"/>
          </p:nvPr>
        </p:nvSpPr>
        <p:spPr/>
        <p:txBody>
          <a:bodyPr/>
          <a:lstStyle/>
          <a:p>
            <a:fld id="{2DD1AF16-C9BB-4ECC-8D85-F1550267F355}" type="slidenum">
              <a:rPr lang="es-GT" smtClean="0"/>
              <a:pPr/>
              <a:t>13</a:t>
            </a:fld>
            <a:endParaRPr lang="es-GT" dirty="0"/>
          </a:p>
        </p:txBody>
      </p:sp>
      <p:pic>
        <p:nvPicPr>
          <p:cNvPr id="5" name="Imagen 4">
            <a:extLst>
              <a:ext uri="{FF2B5EF4-FFF2-40B4-BE49-F238E27FC236}">
                <a16:creationId xmlns:a16="http://schemas.microsoft.com/office/drawing/2014/main" id="{6145F15E-10CA-40B6-8C23-09C180F6F1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260623" cy="6080369"/>
          </a:xfrm>
          <a:prstGeom prst="rect">
            <a:avLst/>
          </a:prstGeom>
        </p:spPr>
      </p:pic>
      <p:sp>
        <p:nvSpPr>
          <p:cNvPr id="3" name="CuadroTexto 2">
            <a:extLst>
              <a:ext uri="{FF2B5EF4-FFF2-40B4-BE49-F238E27FC236}">
                <a16:creationId xmlns:a16="http://schemas.microsoft.com/office/drawing/2014/main" id="{08D3A83B-2B8C-223F-D76D-61921632CD8D}"/>
              </a:ext>
            </a:extLst>
          </p:cNvPr>
          <p:cNvSpPr txBox="1"/>
          <p:nvPr/>
        </p:nvSpPr>
        <p:spPr>
          <a:xfrm>
            <a:off x="510641" y="1169933"/>
            <a:ext cx="3200400" cy="738664"/>
          </a:xfrm>
          <a:prstGeom prst="rect">
            <a:avLst/>
          </a:prstGeom>
          <a:noFill/>
        </p:spPr>
        <p:txBody>
          <a:bodyPr wrap="square" rtlCol="0">
            <a:spAutoFit/>
          </a:bodyPr>
          <a:lstStyle/>
          <a:p>
            <a:pPr algn="just"/>
            <a:r>
              <a:rPr lang="es-MX" sz="1050" dirty="0"/>
              <a:t>En los escenarios moderado y optimista, se aprovecha la capacidad de endeudamiento del gobierno </a:t>
            </a:r>
            <a:r>
              <a:rPr lang="es-MX" sz="1050" b="1" dirty="0"/>
              <a:t>para financiar los proyectos de inversión publica </a:t>
            </a:r>
            <a:r>
              <a:rPr lang="es-MX" sz="1050" dirty="0"/>
              <a:t>necesarios en la economía.</a:t>
            </a:r>
            <a:endParaRPr lang="es-MX" sz="1400" dirty="0"/>
          </a:p>
        </p:txBody>
      </p:sp>
    </p:spTree>
    <p:extLst>
      <p:ext uri="{BB962C8B-B14F-4D97-AF65-F5344CB8AC3E}">
        <p14:creationId xmlns:p14="http://schemas.microsoft.com/office/powerpoint/2010/main" val="2434887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F1CCA2C-8AA3-4A9D-A819-097D80284776}"/>
              </a:ext>
            </a:extLst>
          </p:cNvPr>
          <p:cNvSpPr>
            <a:spLocks noGrp="1"/>
          </p:cNvSpPr>
          <p:nvPr>
            <p:ph type="sldNum" sz="quarter" idx="12"/>
          </p:nvPr>
        </p:nvSpPr>
        <p:spPr/>
        <p:txBody>
          <a:bodyPr/>
          <a:lstStyle/>
          <a:p>
            <a:fld id="{2DD1AF16-C9BB-4ECC-8D85-F1550267F355}" type="slidenum">
              <a:rPr lang="es-GT" smtClean="0"/>
              <a:pPr/>
              <a:t>14</a:t>
            </a:fld>
            <a:endParaRPr lang="es-GT" dirty="0"/>
          </a:p>
        </p:txBody>
      </p:sp>
      <p:pic>
        <p:nvPicPr>
          <p:cNvPr id="5" name="Imagen 4">
            <a:extLst>
              <a:ext uri="{FF2B5EF4-FFF2-40B4-BE49-F238E27FC236}">
                <a16:creationId xmlns:a16="http://schemas.microsoft.com/office/drawing/2014/main" id="{185E581F-B875-4511-9390-F332E53B79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269415" cy="6085579"/>
          </a:xfrm>
          <a:prstGeom prst="rect">
            <a:avLst/>
          </a:prstGeom>
        </p:spPr>
      </p:pic>
      <p:sp>
        <p:nvSpPr>
          <p:cNvPr id="3" name="CuadroTexto 2">
            <a:extLst>
              <a:ext uri="{FF2B5EF4-FFF2-40B4-BE49-F238E27FC236}">
                <a16:creationId xmlns:a16="http://schemas.microsoft.com/office/drawing/2014/main" id="{D141D7F5-3B35-76F2-1FFB-AA45F18AEA05}"/>
              </a:ext>
            </a:extLst>
          </p:cNvPr>
          <p:cNvSpPr txBox="1"/>
          <p:nvPr/>
        </p:nvSpPr>
        <p:spPr>
          <a:xfrm>
            <a:off x="439389" y="771236"/>
            <a:ext cx="3200400" cy="900246"/>
          </a:xfrm>
          <a:prstGeom prst="rect">
            <a:avLst/>
          </a:prstGeom>
          <a:noFill/>
        </p:spPr>
        <p:txBody>
          <a:bodyPr wrap="square" rtlCol="0">
            <a:spAutoFit/>
          </a:bodyPr>
          <a:lstStyle/>
          <a:p>
            <a:pPr algn="just"/>
            <a:r>
              <a:rPr lang="es-MX" sz="1050" dirty="0"/>
              <a:t>Los proyectos de inversión publica inicialmente son financiados por el endeudamiento externo.</a:t>
            </a:r>
          </a:p>
          <a:p>
            <a:pPr algn="just"/>
            <a:endParaRPr lang="es-MX" sz="1050" dirty="0"/>
          </a:p>
          <a:p>
            <a:pPr algn="just"/>
            <a:r>
              <a:rPr lang="es-MX" sz="1050" b="1" dirty="0"/>
              <a:t>Sostener el crecimiento de largo plazo necesita niveles mayores de inversión</a:t>
            </a:r>
            <a:r>
              <a:rPr lang="es-MX" sz="1050" dirty="0"/>
              <a:t>.</a:t>
            </a:r>
          </a:p>
        </p:txBody>
      </p:sp>
    </p:spTree>
    <p:extLst>
      <p:ext uri="{BB962C8B-B14F-4D97-AF65-F5344CB8AC3E}">
        <p14:creationId xmlns:p14="http://schemas.microsoft.com/office/powerpoint/2010/main" val="1325358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7AD0054E-BFDC-46D2-BC28-A2B66BB2D8C9}"/>
              </a:ext>
            </a:extLst>
          </p:cNvPr>
          <p:cNvSpPr>
            <a:spLocks noGrp="1"/>
          </p:cNvSpPr>
          <p:nvPr>
            <p:ph type="sldNum" sz="quarter" idx="12"/>
          </p:nvPr>
        </p:nvSpPr>
        <p:spPr/>
        <p:txBody>
          <a:bodyPr/>
          <a:lstStyle/>
          <a:p>
            <a:fld id="{2DD1AF16-C9BB-4ECC-8D85-F1550267F355}" type="slidenum">
              <a:rPr lang="es-GT" smtClean="0"/>
              <a:pPr/>
              <a:t>15</a:t>
            </a:fld>
            <a:endParaRPr lang="es-GT" dirty="0"/>
          </a:p>
        </p:txBody>
      </p:sp>
      <p:pic>
        <p:nvPicPr>
          <p:cNvPr id="5" name="Imagen 4">
            <a:extLst>
              <a:ext uri="{FF2B5EF4-FFF2-40B4-BE49-F238E27FC236}">
                <a16:creationId xmlns:a16="http://schemas.microsoft.com/office/drawing/2014/main" id="{FF495843-E586-4F7B-BE8A-BBE193B27D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269415" cy="6085579"/>
          </a:xfrm>
          <a:prstGeom prst="rect">
            <a:avLst/>
          </a:prstGeom>
        </p:spPr>
      </p:pic>
      <p:sp>
        <p:nvSpPr>
          <p:cNvPr id="3" name="CuadroTexto 2">
            <a:extLst>
              <a:ext uri="{FF2B5EF4-FFF2-40B4-BE49-F238E27FC236}">
                <a16:creationId xmlns:a16="http://schemas.microsoft.com/office/drawing/2014/main" id="{BAFE6ED1-11B8-E7E4-EF1B-1A9C1F3EDF12}"/>
              </a:ext>
            </a:extLst>
          </p:cNvPr>
          <p:cNvSpPr txBox="1"/>
          <p:nvPr/>
        </p:nvSpPr>
        <p:spPr>
          <a:xfrm>
            <a:off x="5284521" y="2495055"/>
            <a:ext cx="3316738" cy="738664"/>
          </a:xfrm>
          <a:prstGeom prst="rect">
            <a:avLst/>
          </a:prstGeom>
          <a:noFill/>
        </p:spPr>
        <p:txBody>
          <a:bodyPr wrap="square" rtlCol="0">
            <a:spAutoFit/>
          </a:bodyPr>
          <a:lstStyle/>
          <a:p>
            <a:pPr algn="just"/>
            <a:r>
              <a:rPr lang="es-MX" sz="1050" dirty="0"/>
              <a:t>A su vez, el aumento de la inversión pública genera </a:t>
            </a:r>
            <a:r>
              <a:rPr lang="es-MX" sz="1050" b="1" dirty="0"/>
              <a:t>mayores necesidades de financiamiento</a:t>
            </a:r>
            <a:r>
              <a:rPr lang="es-MX" sz="1050" dirty="0"/>
              <a:t>, lo que provoca un incremento de la deuda pública interna.</a:t>
            </a:r>
          </a:p>
        </p:txBody>
      </p:sp>
    </p:spTree>
    <p:extLst>
      <p:ext uri="{BB962C8B-B14F-4D97-AF65-F5344CB8AC3E}">
        <p14:creationId xmlns:p14="http://schemas.microsoft.com/office/powerpoint/2010/main" val="2664919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F43B60DC-27BF-4200-AC2F-FB74AF2B741E}"/>
              </a:ext>
            </a:extLst>
          </p:cNvPr>
          <p:cNvSpPr>
            <a:spLocks noGrp="1"/>
          </p:cNvSpPr>
          <p:nvPr>
            <p:ph type="sldNum" sz="quarter" idx="12"/>
          </p:nvPr>
        </p:nvSpPr>
        <p:spPr/>
        <p:txBody>
          <a:bodyPr/>
          <a:lstStyle/>
          <a:p>
            <a:fld id="{2DD1AF16-C9BB-4ECC-8D85-F1550267F355}" type="slidenum">
              <a:rPr lang="es-GT" smtClean="0"/>
              <a:pPr/>
              <a:t>16</a:t>
            </a:fld>
            <a:endParaRPr lang="es-GT" dirty="0"/>
          </a:p>
        </p:txBody>
      </p:sp>
      <p:pic>
        <p:nvPicPr>
          <p:cNvPr id="5" name="Imagen 4">
            <a:extLst>
              <a:ext uri="{FF2B5EF4-FFF2-40B4-BE49-F238E27FC236}">
                <a16:creationId xmlns:a16="http://schemas.microsoft.com/office/drawing/2014/main" id="{408076D6-050A-4603-964F-179874D8B1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78208" cy="6090790"/>
          </a:xfrm>
          <a:prstGeom prst="rect">
            <a:avLst/>
          </a:prstGeom>
        </p:spPr>
      </p:pic>
      <p:sp>
        <p:nvSpPr>
          <p:cNvPr id="3" name="CuadroTexto 2">
            <a:extLst>
              <a:ext uri="{FF2B5EF4-FFF2-40B4-BE49-F238E27FC236}">
                <a16:creationId xmlns:a16="http://schemas.microsoft.com/office/drawing/2014/main" id="{0062AD0E-1B72-FD3F-41B1-28F27DC64C7A}"/>
              </a:ext>
            </a:extLst>
          </p:cNvPr>
          <p:cNvSpPr txBox="1"/>
          <p:nvPr/>
        </p:nvSpPr>
        <p:spPr>
          <a:xfrm>
            <a:off x="433452" y="1332456"/>
            <a:ext cx="3420092" cy="738664"/>
          </a:xfrm>
          <a:prstGeom prst="rect">
            <a:avLst/>
          </a:prstGeom>
          <a:noFill/>
        </p:spPr>
        <p:txBody>
          <a:bodyPr wrap="square" rtlCol="0">
            <a:spAutoFit/>
          </a:bodyPr>
          <a:lstStyle/>
          <a:p>
            <a:pPr algn="just"/>
            <a:r>
              <a:rPr lang="es-MX" sz="1050" dirty="0"/>
              <a:t>Dado que el financiamiento de la inversión pública no puede sostenerse exclusivamente mediante deuda, es necesario </a:t>
            </a:r>
            <a:r>
              <a:rPr lang="es-MX" sz="1050" b="1" dirty="0"/>
              <a:t>incrementar los ingresos del gobierno</a:t>
            </a:r>
            <a:r>
              <a:rPr lang="es-MX" sz="1050" dirty="0"/>
              <a:t>.</a:t>
            </a:r>
          </a:p>
        </p:txBody>
      </p:sp>
    </p:spTree>
    <p:extLst>
      <p:ext uri="{BB962C8B-B14F-4D97-AF65-F5344CB8AC3E}">
        <p14:creationId xmlns:p14="http://schemas.microsoft.com/office/powerpoint/2010/main" val="4137860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B5148679-62AE-453C-A37A-03798CC26769}"/>
              </a:ext>
            </a:extLst>
          </p:cNvPr>
          <p:cNvSpPr>
            <a:spLocks noGrp="1"/>
          </p:cNvSpPr>
          <p:nvPr>
            <p:ph type="sldNum" sz="quarter" idx="12"/>
          </p:nvPr>
        </p:nvSpPr>
        <p:spPr/>
        <p:txBody>
          <a:bodyPr/>
          <a:lstStyle/>
          <a:p>
            <a:fld id="{2DD1AF16-C9BB-4ECC-8D85-F1550267F355}" type="slidenum">
              <a:rPr lang="es-GT" smtClean="0"/>
              <a:pPr/>
              <a:t>17</a:t>
            </a:fld>
            <a:endParaRPr lang="es-GT" dirty="0"/>
          </a:p>
        </p:txBody>
      </p:sp>
      <p:pic>
        <p:nvPicPr>
          <p:cNvPr id="5" name="Imagen 4">
            <a:extLst>
              <a:ext uri="{FF2B5EF4-FFF2-40B4-BE49-F238E27FC236}">
                <a16:creationId xmlns:a16="http://schemas.microsoft.com/office/drawing/2014/main" id="{CEE7D242-7CDB-435C-A55D-B209655DD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269415" cy="6085579"/>
          </a:xfrm>
          <a:prstGeom prst="rect">
            <a:avLst/>
          </a:prstGeom>
        </p:spPr>
      </p:pic>
      <p:sp>
        <p:nvSpPr>
          <p:cNvPr id="3" name="CuadroTexto 2">
            <a:extLst>
              <a:ext uri="{FF2B5EF4-FFF2-40B4-BE49-F238E27FC236}">
                <a16:creationId xmlns:a16="http://schemas.microsoft.com/office/drawing/2014/main" id="{9B68238D-FFB0-FB83-D6DE-F6CB44B18CC3}"/>
              </a:ext>
            </a:extLst>
          </p:cNvPr>
          <p:cNvSpPr txBox="1"/>
          <p:nvPr/>
        </p:nvSpPr>
        <p:spPr>
          <a:xfrm>
            <a:off x="5611094" y="1486836"/>
            <a:ext cx="3420092" cy="577081"/>
          </a:xfrm>
          <a:prstGeom prst="rect">
            <a:avLst/>
          </a:prstGeom>
          <a:noFill/>
        </p:spPr>
        <p:txBody>
          <a:bodyPr wrap="square" rtlCol="0">
            <a:spAutoFit/>
          </a:bodyPr>
          <a:lstStyle/>
          <a:p>
            <a:pPr algn="just"/>
            <a:r>
              <a:rPr lang="es-MX" sz="1050" dirty="0"/>
              <a:t>Aunque inicialmente el déficit aumenta, este </a:t>
            </a:r>
            <a:r>
              <a:rPr lang="es-MX" sz="1050" b="1" dirty="0"/>
              <a:t>se estabiliza</a:t>
            </a:r>
            <a:r>
              <a:rPr lang="es-MX" sz="1050" dirty="0"/>
              <a:t> como consecuencia del incremento de los ingresos del gobierno.</a:t>
            </a:r>
          </a:p>
        </p:txBody>
      </p:sp>
    </p:spTree>
    <p:extLst>
      <p:ext uri="{BB962C8B-B14F-4D97-AF65-F5344CB8AC3E}">
        <p14:creationId xmlns:p14="http://schemas.microsoft.com/office/powerpoint/2010/main" val="1180668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0681297-3155-4BCE-835F-301B9FD65B96}"/>
              </a:ext>
            </a:extLst>
          </p:cNvPr>
          <p:cNvSpPr>
            <a:spLocks noGrp="1"/>
          </p:cNvSpPr>
          <p:nvPr>
            <p:ph type="sldNum" sz="quarter" idx="12"/>
          </p:nvPr>
        </p:nvSpPr>
        <p:spPr/>
        <p:txBody>
          <a:bodyPr/>
          <a:lstStyle/>
          <a:p>
            <a:fld id="{2DD1AF16-C9BB-4ECC-8D85-F1550267F355}" type="slidenum">
              <a:rPr lang="es-GT" smtClean="0"/>
              <a:pPr/>
              <a:t>18</a:t>
            </a:fld>
            <a:endParaRPr lang="es-GT" dirty="0"/>
          </a:p>
        </p:txBody>
      </p:sp>
      <p:pic>
        <p:nvPicPr>
          <p:cNvPr id="5" name="Imagen 4">
            <a:extLst>
              <a:ext uri="{FF2B5EF4-FFF2-40B4-BE49-F238E27FC236}">
                <a16:creationId xmlns:a16="http://schemas.microsoft.com/office/drawing/2014/main" id="{443C9FEA-EC1F-4EB2-9090-01640AC0C0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78208" cy="6090790"/>
          </a:xfrm>
          <a:prstGeom prst="rect">
            <a:avLst/>
          </a:prstGeom>
        </p:spPr>
      </p:pic>
      <p:sp>
        <p:nvSpPr>
          <p:cNvPr id="3" name="CuadroTexto 2">
            <a:extLst>
              <a:ext uri="{FF2B5EF4-FFF2-40B4-BE49-F238E27FC236}">
                <a16:creationId xmlns:a16="http://schemas.microsoft.com/office/drawing/2014/main" id="{70E11225-F57B-B54E-49FE-3FAFA5C536B1}"/>
              </a:ext>
            </a:extLst>
          </p:cNvPr>
          <p:cNvSpPr txBox="1"/>
          <p:nvPr/>
        </p:nvSpPr>
        <p:spPr>
          <a:xfrm>
            <a:off x="5373587" y="2727808"/>
            <a:ext cx="3811976" cy="415498"/>
          </a:xfrm>
          <a:prstGeom prst="rect">
            <a:avLst/>
          </a:prstGeom>
          <a:noFill/>
        </p:spPr>
        <p:txBody>
          <a:bodyPr wrap="square" rtlCol="0">
            <a:spAutoFit/>
          </a:bodyPr>
          <a:lstStyle/>
          <a:p>
            <a:pPr algn="just"/>
            <a:r>
              <a:rPr lang="es-MX" sz="1050" dirty="0"/>
              <a:t>En el largo plazo, </a:t>
            </a:r>
            <a:r>
              <a:rPr lang="es-MX" sz="1050" b="1" dirty="0"/>
              <a:t>aumentan los niveles de endeudamiento total </a:t>
            </a:r>
            <a:r>
              <a:rPr lang="es-MX" sz="1050" dirty="0"/>
              <a:t>del gobierno.</a:t>
            </a:r>
          </a:p>
        </p:txBody>
      </p:sp>
    </p:spTree>
    <p:extLst>
      <p:ext uri="{BB962C8B-B14F-4D97-AF65-F5344CB8AC3E}">
        <p14:creationId xmlns:p14="http://schemas.microsoft.com/office/powerpoint/2010/main" val="3892022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0681297-3155-4BCE-835F-301B9FD65B96}"/>
              </a:ext>
            </a:extLst>
          </p:cNvPr>
          <p:cNvSpPr>
            <a:spLocks noGrp="1"/>
          </p:cNvSpPr>
          <p:nvPr>
            <p:ph type="sldNum" sz="quarter" idx="12"/>
          </p:nvPr>
        </p:nvSpPr>
        <p:spPr/>
        <p:txBody>
          <a:bodyPr/>
          <a:lstStyle/>
          <a:p>
            <a:fld id="{2DD1AF16-C9BB-4ECC-8D85-F1550267F355}" type="slidenum">
              <a:rPr lang="es-GT" smtClean="0"/>
              <a:pPr/>
              <a:t>19</a:t>
            </a:fld>
            <a:endParaRPr lang="es-GT" dirty="0"/>
          </a:p>
        </p:txBody>
      </p:sp>
      <p:pic>
        <p:nvPicPr>
          <p:cNvPr id="3" name="Imagen 2">
            <a:extLst>
              <a:ext uri="{FF2B5EF4-FFF2-40B4-BE49-F238E27FC236}">
                <a16:creationId xmlns:a16="http://schemas.microsoft.com/office/drawing/2014/main" id="{664C8AF9-2013-41B8-A17A-9E499C41DF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78208" cy="6090790"/>
          </a:xfrm>
          <a:prstGeom prst="rect">
            <a:avLst/>
          </a:prstGeom>
        </p:spPr>
      </p:pic>
      <p:sp>
        <p:nvSpPr>
          <p:cNvPr id="7" name="CuadroTexto 6">
            <a:extLst>
              <a:ext uri="{FF2B5EF4-FFF2-40B4-BE49-F238E27FC236}">
                <a16:creationId xmlns:a16="http://schemas.microsoft.com/office/drawing/2014/main" id="{ABEA6F8A-53F4-41A7-90F7-A0C1525406EB}"/>
              </a:ext>
            </a:extLst>
          </p:cNvPr>
          <p:cNvSpPr txBox="1"/>
          <p:nvPr/>
        </p:nvSpPr>
        <p:spPr>
          <a:xfrm>
            <a:off x="4714635" y="1470623"/>
            <a:ext cx="4476867" cy="738664"/>
          </a:xfrm>
          <a:prstGeom prst="rect">
            <a:avLst/>
          </a:prstGeom>
          <a:noFill/>
        </p:spPr>
        <p:txBody>
          <a:bodyPr wrap="square" rtlCol="0">
            <a:spAutoFit/>
          </a:bodyPr>
          <a:lstStyle/>
          <a:p>
            <a:pPr algn="just"/>
            <a:r>
              <a:rPr lang="es-MX" sz="1050" dirty="0"/>
              <a:t>En los escenarios optimista y moderado, el mayor dinamismo en la </a:t>
            </a:r>
            <a:r>
              <a:rPr lang="es-MX" sz="1050" b="1" dirty="0"/>
              <a:t>actividad económica</a:t>
            </a:r>
            <a:r>
              <a:rPr lang="es-MX" sz="1050" dirty="0"/>
              <a:t>, junto con el incremento de la </a:t>
            </a:r>
            <a:r>
              <a:rPr lang="es-MX" sz="1050" b="1" dirty="0"/>
              <a:t>base monetaria</a:t>
            </a:r>
            <a:r>
              <a:rPr lang="es-MX" sz="1050" dirty="0"/>
              <a:t> provocan que la inflación doméstica durante un periodo, pero luego retorna a su valor meta del 4%.</a:t>
            </a:r>
          </a:p>
        </p:txBody>
      </p:sp>
    </p:spTree>
    <p:extLst>
      <p:ext uri="{BB962C8B-B14F-4D97-AF65-F5344CB8AC3E}">
        <p14:creationId xmlns:p14="http://schemas.microsoft.com/office/powerpoint/2010/main" val="3773077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1C3A914-EBF5-4FC6-9556-518BF4111841}"/>
              </a:ext>
            </a:extLst>
          </p:cNvPr>
          <p:cNvSpPr>
            <a:spLocks noGrp="1"/>
          </p:cNvSpPr>
          <p:nvPr>
            <p:ph type="sldNum" sz="quarter" idx="12"/>
          </p:nvPr>
        </p:nvSpPr>
        <p:spPr/>
        <p:txBody>
          <a:bodyPr/>
          <a:lstStyle/>
          <a:p>
            <a:fld id="{2DD1AF16-C9BB-4ECC-8D85-F1550267F355}" type="slidenum">
              <a:rPr lang="es-GT" smtClean="0"/>
              <a:pPr/>
              <a:t>20</a:t>
            </a:fld>
            <a:endParaRPr lang="es-GT" dirty="0"/>
          </a:p>
        </p:txBody>
      </p:sp>
      <p:pic>
        <p:nvPicPr>
          <p:cNvPr id="5" name="Imagen 4">
            <a:extLst>
              <a:ext uri="{FF2B5EF4-FFF2-40B4-BE49-F238E27FC236}">
                <a16:creationId xmlns:a16="http://schemas.microsoft.com/office/drawing/2014/main" id="{33109140-6B40-4DB2-AD0B-B47193B412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95792" cy="6101210"/>
          </a:xfrm>
          <a:prstGeom prst="rect">
            <a:avLst/>
          </a:prstGeom>
        </p:spPr>
      </p:pic>
      <p:sp>
        <p:nvSpPr>
          <p:cNvPr id="3" name="CuadroTexto 2">
            <a:extLst>
              <a:ext uri="{FF2B5EF4-FFF2-40B4-BE49-F238E27FC236}">
                <a16:creationId xmlns:a16="http://schemas.microsoft.com/office/drawing/2014/main" id="{1FF51A07-8BDB-222E-0315-AE93F9BCCA67}"/>
              </a:ext>
            </a:extLst>
          </p:cNvPr>
          <p:cNvSpPr txBox="1"/>
          <p:nvPr/>
        </p:nvSpPr>
        <p:spPr>
          <a:xfrm>
            <a:off x="4670672" y="1391492"/>
            <a:ext cx="4710720" cy="415498"/>
          </a:xfrm>
          <a:prstGeom prst="rect">
            <a:avLst/>
          </a:prstGeom>
          <a:noFill/>
        </p:spPr>
        <p:txBody>
          <a:bodyPr wrap="square" rtlCol="0">
            <a:spAutoFit/>
          </a:bodyPr>
          <a:lstStyle/>
          <a:p>
            <a:pPr algn="just"/>
            <a:r>
              <a:rPr lang="es-MX" sz="1050" dirty="0"/>
              <a:t>La autoridad monetaria incrementa la tasa de interés líder </a:t>
            </a:r>
            <a:r>
              <a:rPr lang="es-MX" sz="1050" b="1" dirty="0"/>
              <a:t>en respuesta al aumento de la inflación</a:t>
            </a:r>
            <a:r>
              <a:rPr lang="es-MX" sz="1050" dirty="0"/>
              <a:t>. </a:t>
            </a:r>
          </a:p>
        </p:txBody>
      </p:sp>
    </p:spTree>
    <p:extLst>
      <p:ext uri="{BB962C8B-B14F-4D97-AF65-F5344CB8AC3E}">
        <p14:creationId xmlns:p14="http://schemas.microsoft.com/office/powerpoint/2010/main" val="1975430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D5151901-9A4E-4E37-AD00-4D839E81C65B}"/>
              </a:ext>
            </a:extLst>
          </p:cNvPr>
          <p:cNvSpPr>
            <a:spLocks noGrp="1"/>
          </p:cNvSpPr>
          <p:nvPr>
            <p:ph type="sldNum" sz="quarter" idx="12"/>
          </p:nvPr>
        </p:nvSpPr>
        <p:spPr/>
        <p:txBody>
          <a:bodyPr/>
          <a:lstStyle/>
          <a:p>
            <a:fld id="{2DD1AF16-C9BB-4ECC-8D85-F1550267F355}" type="slidenum">
              <a:rPr lang="es-GT" smtClean="0"/>
              <a:pPr/>
              <a:t>21</a:t>
            </a:fld>
            <a:endParaRPr lang="es-GT" dirty="0"/>
          </a:p>
        </p:txBody>
      </p:sp>
      <p:pic>
        <p:nvPicPr>
          <p:cNvPr id="5" name="Imagen 4">
            <a:extLst>
              <a:ext uri="{FF2B5EF4-FFF2-40B4-BE49-F238E27FC236}">
                <a16:creationId xmlns:a16="http://schemas.microsoft.com/office/drawing/2014/main" id="{39041EF1-974E-4D10-A554-D4540EB381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78208" cy="6090790"/>
          </a:xfrm>
          <a:prstGeom prst="rect">
            <a:avLst/>
          </a:prstGeom>
        </p:spPr>
      </p:pic>
      <p:sp>
        <p:nvSpPr>
          <p:cNvPr id="3" name="CuadroTexto 2">
            <a:extLst>
              <a:ext uri="{FF2B5EF4-FFF2-40B4-BE49-F238E27FC236}">
                <a16:creationId xmlns:a16="http://schemas.microsoft.com/office/drawing/2014/main" id="{DDB9DC79-4430-9BE8-73FE-31606BE43838}"/>
              </a:ext>
            </a:extLst>
          </p:cNvPr>
          <p:cNvSpPr txBox="1"/>
          <p:nvPr/>
        </p:nvSpPr>
        <p:spPr>
          <a:xfrm>
            <a:off x="5569659" y="2528754"/>
            <a:ext cx="3799972" cy="577081"/>
          </a:xfrm>
          <a:prstGeom prst="rect">
            <a:avLst/>
          </a:prstGeom>
          <a:noFill/>
        </p:spPr>
        <p:txBody>
          <a:bodyPr wrap="square" rtlCol="0">
            <a:spAutoFit/>
          </a:bodyPr>
          <a:lstStyle/>
          <a:p>
            <a:pPr algn="just"/>
            <a:r>
              <a:rPr lang="es-MX" sz="1050" dirty="0"/>
              <a:t>El </a:t>
            </a:r>
            <a:r>
              <a:rPr lang="es-MX" sz="1050" b="1" dirty="0"/>
              <a:t>efecto crowding out</a:t>
            </a:r>
            <a:r>
              <a:rPr lang="es-MX" sz="1050" dirty="0"/>
              <a:t> determina su dinámica de largo plazo, en respuesta al incremento de la deuda pública interna.</a:t>
            </a:r>
          </a:p>
        </p:txBody>
      </p:sp>
    </p:spTree>
    <p:extLst>
      <p:ext uri="{BB962C8B-B14F-4D97-AF65-F5344CB8AC3E}">
        <p14:creationId xmlns:p14="http://schemas.microsoft.com/office/powerpoint/2010/main" val="3678456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5C5C75D9-9CFA-4981-A684-8B8FDDEFC53B}"/>
              </a:ext>
            </a:extLst>
          </p:cNvPr>
          <p:cNvSpPr>
            <a:spLocks noGrp="1"/>
          </p:cNvSpPr>
          <p:nvPr>
            <p:ph type="sldNum" sz="quarter" idx="12"/>
          </p:nvPr>
        </p:nvSpPr>
        <p:spPr/>
        <p:txBody>
          <a:bodyPr/>
          <a:lstStyle/>
          <a:p>
            <a:fld id="{2DD1AF16-C9BB-4ECC-8D85-F1550267F355}" type="slidenum">
              <a:rPr lang="es-GT" smtClean="0"/>
              <a:pPr/>
              <a:t>22</a:t>
            </a:fld>
            <a:endParaRPr lang="es-GT" dirty="0"/>
          </a:p>
        </p:txBody>
      </p:sp>
      <p:pic>
        <p:nvPicPr>
          <p:cNvPr id="5" name="Imagen 4">
            <a:extLst>
              <a:ext uri="{FF2B5EF4-FFF2-40B4-BE49-F238E27FC236}">
                <a16:creationId xmlns:a16="http://schemas.microsoft.com/office/drawing/2014/main" id="{36D85844-3840-4B21-8CCE-5BFADE5753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260623" cy="6080369"/>
          </a:xfrm>
          <a:prstGeom prst="rect">
            <a:avLst/>
          </a:prstGeom>
        </p:spPr>
      </p:pic>
      <p:sp>
        <p:nvSpPr>
          <p:cNvPr id="3" name="CuadroTexto 2">
            <a:extLst>
              <a:ext uri="{FF2B5EF4-FFF2-40B4-BE49-F238E27FC236}">
                <a16:creationId xmlns:a16="http://schemas.microsoft.com/office/drawing/2014/main" id="{FDA1B1F9-CA2C-7647-3605-727045A55BFA}"/>
              </a:ext>
            </a:extLst>
          </p:cNvPr>
          <p:cNvSpPr txBox="1"/>
          <p:nvPr/>
        </p:nvSpPr>
        <p:spPr>
          <a:xfrm>
            <a:off x="1241104" y="1118701"/>
            <a:ext cx="2256180" cy="577081"/>
          </a:xfrm>
          <a:prstGeom prst="rect">
            <a:avLst/>
          </a:prstGeom>
          <a:noFill/>
        </p:spPr>
        <p:txBody>
          <a:bodyPr wrap="square" rtlCol="0">
            <a:spAutoFit/>
          </a:bodyPr>
          <a:lstStyle/>
          <a:p>
            <a:pPr algn="just"/>
            <a:r>
              <a:rPr lang="es-MX" sz="1050" dirty="0"/>
              <a:t>No obstante, en el largo plazo, la </a:t>
            </a:r>
            <a:r>
              <a:rPr lang="es-MX" sz="1050" b="1" dirty="0"/>
              <a:t>inversión total de la economía aumenta</a:t>
            </a:r>
            <a:r>
              <a:rPr lang="es-MX" sz="1050" dirty="0"/>
              <a:t>. </a:t>
            </a:r>
          </a:p>
        </p:txBody>
      </p:sp>
    </p:spTree>
    <p:extLst>
      <p:ext uri="{BB962C8B-B14F-4D97-AF65-F5344CB8AC3E}">
        <p14:creationId xmlns:p14="http://schemas.microsoft.com/office/powerpoint/2010/main" val="3186774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211ECA-A602-41F9-8E3A-7863ACAE492D}"/>
              </a:ext>
            </a:extLst>
          </p:cNvPr>
          <p:cNvSpPr>
            <a:spLocks noGrp="1"/>
          </p:cNvSpPr>
          <p:nvPr>
            <p:ph type="title"/>
          </p:nvPr>
        </p:nvSpPr>
        <p:spPr>
          <a:xfrm>
            <a:off x="838200" y="2825792"/>
            <a:ext cx="10515600" cy="1022862"/>
          </a:xfrm>
        </p:spPr>
        <p:txBody>
          <a:bodyPr>
            <a:normAutofit/>
          </a:bodyPr>
          <a:lstStyle/>
          <a:p>
            <a:pPr algn="ctr"/>
            <a:r>
              <a:rPr lang="es-ES" dirty="0"/>
              <a:t>Muchas gracias por su atención</a:t>
            </a:r>
            <a:endParaRPr lang="es-GT" dirty="0"/>
          </a:p>
        </p:txBody>
      </p:sp>
    </p:spTree>
    <p:extLst>
      <p:ext uri="{BB962C8B-B14F-4D97-AF65-F5344CB8AC3E}">
        <p14:creationId xmlns:p14="http://schemas.microsoft.com/office/powerpoint/2010/main" val="284263652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ersonalizado 1">
      <a:majorFont>
        <a:latin typeface="Libre Franklin"/>
        <a:ea typeface=""/>
        <a:cs typeface=""/>
      </a:majorFont>
      <a:minorFont>
        <a:latin typeface="Libre Frankli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2054</TotalTime>
  <Words>942</Words>
  <Application>Microsoft Office PowerPoint</Application>
  <PresentationFormat>Panorámica</PresentationFormat>
  <Paragraphs>136</Paragraphs>
  <Slides>23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23</vt:i4>
      </vt:variant>
    </vt:vector>
  </HeadingPairs>
  <TitlesOfParts>
    <vt:vector size="27" baseType="lpstr">
      <vt:lpstr>Arial</vt:lpstr>
      <vt:lpstr>Calibri</vt:lpstr>
      <vt:lpstr>Libre Franklin</vt:lpstr>
      <vt:lpstr>Tema de Office</vt:lpstr>
      <vt:lpstr>Escenarios de pronóstico de crecimiento económico de largo plazo</vt:lpstr>
      <vt:lpstr>Presentación de PowerPoint</vt:lpstr>
      <vt:lpstr>Introducción</vt:lpstr>
      <vt:lpstr>Introducción</vt:lpstr>
      <vt:lpstr>Modelo para Proyecciones Macroeconómicas (MPM)</vt:lpstr>
      <vt:lpstr>Modelo para Proyecciones Macroeconómicas</vt:lpstr>
      <vt:lpstr>Lógica interna del modelo</vt:lpstr>
      <vt:lpstr>Ejemplo gráfico del funcionamiento del modelo</vt:lpstr>
      <vt:lpstr>Modelo para Proyecciones Macroeconómicas</vt:lpstr>
      <vt:lpstr>Supuestos principales</vt:lpstr>
      <vt:lpstr>Pronósticos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Muchas gracias por su atención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Rubí Esmeralda Ramírez Milián</dc:creator>
  <cp:lastModifiedBy>JGOR</cp:lastModifiedBy>
  <cp:revision>65</cp:revision>
  <dcterms:created xsi:type="dcterms:W3CDTF">2026-05-06T22:18:38Z</dcterms:created>
  <dcterms:modified xsi:type="dcterms:W3CDTF">2026-07-22T15:09:44Z</dcterms:modified>
</cp:coreProperties>
</file>